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jpg"/><Relationship Id="rId7" Type="http://schemas.openxmlformats.org/officeDocument/2006/relationships/image" Target="../media/image-7-7.jp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Desktop\SOC FPGA\Yuntuo\presentation\assets\robot-he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3510" y="1079541"/>
            <a:ext cx="5333970" cy="47385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30" y="1079541"/>
            <a:ext cx="3848252" cy="223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spc="150" kern="0" dirty="0">
                <a:solidFill>
                  <a:srgbClr val="7FE7E1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FPGA × RK3588 · WHEEL-LEGGED ROBOT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71500" y="1358890"/>
            <a:ext cx="2324588" cy="1266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75"/>
              </a:lnSpc>
              <a:buNone/>
            </a:pPr>
            <a:r>
              <a:rPr lang="en-US" sz="8500" b="1" spc="300" kern="0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云拓</a:t>
            </a:r>
            <a:endParaRPr lang="en-US" sz="8500" dirty="0"/>
          </a:p>
        </p:txBody>
      </p:sp>
      <p:sp>
        <p:nvSpPr>
          <p:cNvPr id="5" name="Text 2"/>
          <p:cNvSpPr/>
          <p:nvPr/>
        </p:nvSpPr>
        <p:spPr>
          <a:xfrm>
            <a:off x="622341" y="2667030"/>
            <a:ext cx="2558034" cy="472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spc="25" kern="0" dirty="0">
                <a:solidFill>
                  <a:srgbClr val="7FE7E1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YunTuo</a:t>
            </a:r>
            <a:r>
              <a:rPr lang="en-US" sz="3200" spc="25" kern="0" dirty="0">
                <a:solidFill>
                  <a:srgbClr val="ECF3F4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 Robot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09630" y="3429000"/>
            <a:ext cx="5408036" cy="388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一片 FPGA，完成感知、导航与运动控制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09630" y="3962370"/>
            <a:ext cx="5826740" cy="576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两轮自平衡轮腿机器人：雷达建图、自主导航与强化学习控制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运行在高云 GW5AT-LV138 上，RK3588 离线理解视觉与语言任务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09630" y="5041910"/>
            <a:ext cx="12710" cy="558790"/>
          </a:xfrm>
          <a:prstGeom prst="rect">
            <a:avLst/>
          </a:prstGeom>
          <a:solidFill>
            <a:srgbClr val="253945"/>
          </a:solidFill>
          <a:ln/>
        </p:spPr>
      </p:sp>
      <p:sp>
        <p:nvSpPr>
          <p:cNvPr id="9" name="Text 6"/>
          <p:cNvSpPr/>
          <p:nvPr/>
        </p:nvSpPr>
        <p:spPr>
          <a:xfrm>
            <a:off x="774680" y="5029200"/>
            <a:ext cx="825520" cy="292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同片协同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4680" y="5333970"/>
            <a:ext cx="1272662" cy="23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导航 + 运动控制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413010" y="5041910"/>
            <a:ext cx="12710" cy="558790"/>
          </a:xfrm>
          <a:prstGeom prst="rect">
            <a:avLst/>
          </a:prstGeom>
          <a:solidFill>
            <a:srgbClr val="253945"/>
          </a:solidFill>
          <a:ln/>
        </p:spPr>
      </p:sp>
      <p:sp>
        <p:nvSpPr>
          <p:cNvPr id="12" name="Text 9"/>
          <p:cNvSpPr/>
          <p:nvPr/>
        </p:nvSpPr>
        <p:spPr>
          <a:xfrm>
            <a:off x="2578059" y="5029200"/>
            <a:ext cx="825520" cy="292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边缘智能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2578059" y="5333970"/>
            <a:ext cx="1470081" cy="23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RK3588 离线多模型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216390" y="5041910"/>
            <a:ext cx="12710" cy="558790"/>
          </a:xfrm>
          <a:prstGeom prst="rect">
            <a:avLst/>
          </a:prstGeom>
          <a:solidFill>
            <a:srgbClr val="253945"/>
          </a:solidFill>
          <a:ln/>
        </p:spPr>
      </p:sp>
      <p:sp>
        <p:nvSpPr>
          <p:cNvPr id="15" name="Text 12"/>
          <p:cNvSpPr/>
          <p:nvPr/>
        </p:nvSpPr>
        <p:spPr>
          <a:xfrm>
            <a:off x="4381530" y="5029200"/>
            <a:ext cx="825520" cy="292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双端交互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381530" y="5333970"/>
            <a:ext cx="1409365" cy="23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+ 微信小程序</a:t>
            </a:r>
            <a:endParaRPr lang="en-US" sz="1200" dirty="0"/>
          </a:p>
        </p:txBody>
      </p:sp>
      <p:pic>
        <p:nvPicPr>
          <p:cNvPr id="17" name="Image 1" descr="D:\Desktop\SOC FPGA\Yuntuo\presentation\assets\fpga-competi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10" y="5905470"/>
            <a:ext cx="1674449" cy="58421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2438430" y="5994441"/>
            <a:ext cx="12710" cy="406359"/>
          </a:xfrm>
          <a:prstGeom prst="rect">
            <a:avLst/>
          </a:prstGeom>
          <a:solidFill>
            <a:srgbClr val="253945"/>
          </a:solidFill>
          <a:ln/>
        </p:spPr>
      </p:sp>
      <p:pic>
        <p:nvPicPr>
          <p:cNvPr id="19" name="Image 2" descr="D:\Desktop\SOC FPGA\Yuntuo\presentation\assets\chy-logo-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6190" y="5956310"/>
            <a:ext cx="908822" cy="482620"/>
          </a:xfrm>
          <a:prstGeom prst="rect">
            <a:avLst/>
          </a:prstGeom>
        </p:spPr>
      </p:pic>
      <p:pic>
        <p:nvPicPr>
          <p:cNvPr id="20" name="Image 3" descr="D:\Desktop\SOC FPGA\Yuntuo\presentation\assets\yuntuo-m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1059" y="596902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292559" y="6032480"/>
            <a:ext cx="593994" cy="421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spc="25" kern="0" dirty="0">
                <a:solidFill>
                  <a:srgbClr val="ECF3F4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YunTuo</a:t>
            </a:r>
            <a:endParaRPr lang="en-US" sz="1300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1300" spc="25" kern="0" dirty="0">
                <a:solidFill>
                  <a:srgbClr val="91A7B3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Robot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0074402" y="6349959"/>
            <a:ext cx="1508028" cy="2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技术方案介绍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Desktop\SOC FPGA\Yuntuo\presentation\assets\fpga-competi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10" y="215890"/>
            <a:ext cx="1455999" cy="508041"/>
          </a:xfrm>
          <a:prstGeom prst="rect">
            <a:avLst/>
          </a:prstGeom>
        </p:spPr>
      </p:pic>
      <p:pic>
        <p:nvPicPr>
          <p:cNvPr id="3" name="Image 1" descr="D:\Desktop\SOC FPGA\Yuntuo\presentation\assets\chy-logo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1885" y="279441"/>
            <a:ext cx="669707" cy="35561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9761311" y="317480"/>
            <a:ext cx="12710" cy="279441"/>
          </a:xfrm>
          <a:prstGeom prst="rect">
            <a:avLst/>
          </a:prstGeom>
          <a:solidFill>
            <a:srgbClr val="253945"/>
          </a:solidFill>
          <a:ln/>
        </p:spPr>
      </p:sp>
      <p:pic>
        <p:nvPicPr>
          <p:cNvPr id="5" name="Image 2" descr="D:\Desktop\SOC FPGA\Yuntuo\presentation\assets\yuntuo-m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3742" y="279441"/>
            <a:ext cx="355610" cy="35561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0409072" y="352410"/>
            <a:ext cx="1236817" cy="234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500" b="1" spc="25" kern="0" dirty="0">
                <a:solidFill>
                  <a:srgbClr val="ECF3F4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YunTuo </a:t>
            </a:r>
            <a:r>
              <a:rPr lang="en-US" sz="1500" spc="25" kern="0" dirty="0">
                <a:solidFill>
                  <a:srgbClr val="91A7B3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Robot</a:t>
            </a:r>
            <a:endParaRPr lang="en-US" sz="1500" dirty="0"/>
          </a:p>
        </p:txBody>
      </p:sp>
      <p:sp>
        <p:nvSpPr>
          <p:cNvPr id="7" name="Text 2"/>
          <p:cNvSpPr/>
          <p:nvPr/>
        </p:nvSpPr>
        <p:spPr>
          <a:xfrm>
            <a:off x="609630" y="952530"/>
            <a:ext cx="1217889" cy="223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spc="150" kern="0" dirty="0">
                <a:solidFill>
                  <a:srgbClr val="7FE7E1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01 项目概况</a:t>
            </a:r>
            <a:endParaRPr lang="en-US" sz="1300" dirty="0"/>
          </a:p>
        </p:txBody>
      </p:sp>
      <p:sp>
        <p:nvSpPr>
          <p:cNvPr id="8" name="Text 3"/>
          <p:cNvSpPr/>
          <p:nvPr/>
        </p:nvSpPr>
        <p:spPr>
          <a:xfrm>
            <a:off x="609630" y="1181130"/>
            <a:ext cx="7746522" cy="565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b="1" spc="50" kern="0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面向复杂地形巡检与找物的轮腿机器人</a:t>
            </a:r>
            <a:endParaRPr lang="en-US" sz="3400" dirty="0"/>
          </a:p>
        </p:txBody>
      </p:sp>
      <p:pic>
        <p:nvPicPr>
          <p:cNvPr id="9" name="Image 3" descr="D:\Desktop\SOC FPGA\Yuntuo\presentation\assets\ph-robot-phot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30" y="2006559"/>
            <a:ext cx="5080041" cy="381003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09630" y="5930890"/>
            <a:ext cx="4141683" cy="23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两轮驱动 + 四路腿部舵机 · 车身高度 85–190 mm 可调</a:t>
            </a:r>
            <a:endParaRPr lang="en-US" sz="1200" dirty="0"/>
          </a:p>
        </p:txBody>
      </p:sp>
      <p:sp>
        <p:nvSpPr>
          <p:cNvPr id="11" name="Text 5"/>
          <p:cNvSpPr/>
          <p:nvPr/>
        </p:nvSpPr>
        <p:spPr>
          <a:xfrm>
            <a:off x="6197620" y="1981230"/>
            <a:ext cx="5600151" cy="596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两轮自平衡底盘配合四路腿部舵机，完成平衡、移动与车身高度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调节；雷达感知地形，相机识别目标。</a:t>
            </a:r>
            <a:endParaRPr lang="en-US" sz="1500" dirty="0"/>
          </a:p>
        </p:txBody>
      </p:sp>
      <p:sp>
        <p:nvSpPr>
          <p:cNvPr id="12" name="Shape 6"/>
          <p:cNvSpPr/>
          <p:nvPr/>
        </p:nvSpPr>
        <p:spPr>
          <a:xfrm>
            <a:off x="6197620" y="2794041"/>
            <a:ext cx="5384810" cy="12710"/>
          </a:xfrm>
          <a:prstGeom prst="rect">
            <a:avLst/>
          </a:prstGeom>
          <a:solidFill>
            <a:srgbClr val="253945"/>
          </a:solidFill>
          <a:ln/>
        </p:spPr>
      </p:sp>
      <p:sp>
        <p:nvSpPr>
          <p:cNvPr id="13" name="Text 7"/>
          <p:cNvSpPr/>
          <p:nvPr/>
        </p:nvSpPr>
        <p:spPr>
          <a:xfrm>
            <a:off x="6197620" y="2920959"/>
            <a:ext cx="594269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7FE7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1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7061180" y="2895630"/>
            <a:ext cx="1206459" cy="27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多传感器感知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7061180" y="3162270"/>
            <a:ext cx="4022537" cy="223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FPGA 采集摄像头与 BMI088，HDMI 实时叠加姿态角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6197620" y="3403580"/>
            <a:ext cx="5384810" cy="12710"/>
          </a:xfrm>
          <a:prstGeom prst="rect">
            <a:avLst/>
          </a:prstGeom>
          <a:solidFill>
            <a:srgbClr val="253945"/>
          </a:solidFill>
          <a:ln/>
        </p:spPr>
      </p:sp>
      <p:sp>
        <p:nvSpPr>
          <p:cNvPr id="17" name="Text 11"/>
          <p:cNvSpPr/>
          <p:nvPr/>
        </p:nvSpPr>
        <p:spPr>
          <a:xfrm>
            <a:off x="6197620" y="3530590"/>
            <a:ext cx="594269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7FE7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2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7061180" y="3505170"/>
            <a:ext cx="825520" cy="27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运动控制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7061180" y="3771900"/>
            <a:ext cx="3564423" cy="223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片上强化学习策略 125 Hz 推理，编码器轮速闭环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197620" y="4013210"/>
            <a:ext cx="5384810" cy="12710"/>
          </a:xfrm>
          <a:prstGeom prst="rect">
            <a:avLst/>
          </a:prstGeom>
          <a:solidFill>
            <a:srgbClr val="253945"/>
          </a:solidFill>
          <a:ln/>
        </p:spPr>
      </p:sp>
      <p:sp>
        <p:nvSpPr>
          <p:cNvPr id="21" name="Text 15"/>
          <p:cNvSpPr/>
          <p:nvPr/>
        </p:nvSpPr>
        <p:spPr>
          <a:xfrm>
            <a:off x="6197620" y="4140220"/>
            <a:ext cx="594269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7FE7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3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7061180" y="4114800"/>
            <a:ext cx="825520" cy="27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实时避障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061180" y="4381530"/>
            <a:ext cx="3486882" cy="223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雷达点云硬件建图，代价图驱动减速、停车与绕行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197620" y="4622841"/>
            <a:ext cx="5384810" cy="12710"/>
          </a:xfrm>
          <a:prstGeom prst="rect">
            <a:avLst/>
          </a:prstGeom>
          <a:solidFill>
            <a:srgbClr val="253945"/>
          </a:solidFill>
          <a:ln/>
        </p:spPr>
      </p:sp>
      <p:sp>
        <p:nvSpPr>
          <p:cNvPr id="25" name="Text 19"/>
          <p:cNvSpPr/>
          <p:nvPr/>
        </p:nvSpPr>
        <p:spPr>
          <a:xfrm>
            <a:off x="6197620" y="4749759"/>
            <a:ext cx="594269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7FE7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4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061180" y="4724430"/>
            <a:ext cx="825520" cy="27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自主导航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7061180" y="4991070"/>
            <a:ext cx="3361334" cy="223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结构匹配定位 + A* 全局路径 + 局部轨迹评估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6197620" y="5232380"/>
            <a:ext cx="5384810" cy="12710"/>
          </a:xfrm>
          <a:prstGeom prst="rect">
            <a:avLst/>
          </a:prstGeom>
          <a:solidFill>
            <a:srgbClr val="253945"/>
          </a:solidFill>
          <a:ln/>
        </p:spPr>
      </p:sp>
      <p:sp>
        <p:nvSpPr>
          <p:cNvPr id="29" name="Text 23"/>
          <p:cNvSpPr/>
          <p:nvPr/>
        </p:nvSpPr>
        <p:spPr>
          <a:xfrm>
            <a:off x="6197620" y="5359390"/>
            <a:ext cx="867034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7FE7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5 · 6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7061180" y="5333970"/>
            <a:ext cx="1206459" cy="27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拓展智能任务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7061180" y="5600700"/>
            <a:ext cx="3521446" cy="223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RK3588 离线语音、语言与视觉模型，一句话找物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6197620" y="5842010"/>
            <a:ext cx="5384810" cy="12710"/>
          </a:xfrm>
          <a:prstGeom prst="rect">
            <a:avLst/>
          </a:prstGeom>
          <a:solidFill>
            <a:srgbClr val="253945"/>
          </a:solidFill>
          <a:ln/>
        </p:spPr>
      </p:sp>
      <p:sp>
        <p:nvSpPr>
          <p:cNvPr id="33" name="Text 27"/>
          <p:cNvSpPr/>
          <p:nvPr/>
        </p:nvSpPr>
        <p:spPr>
          <a:xfrm>
            <a:off x="609630" y="6438930"/>
            <a:ext cx="2091964" cy="2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云拓 YunTuo · 技术方案介绍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11046684" y="6438930"/>
            <a:ext cx="535656" cy="2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02 / 08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Desktop\SOC FPGA\Yuntuo\presentation\assets\fpga-competi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10" y="215890"/>
            <a:ext cx="1455999" cy="508041"/>
          </a:xfrm>
          <a:prstGeom prst="rect">
            <a:avLst/>
          </a:prstGeom>
        </p:spPr>
      </p:pic>
      <p:pic>
        <p:nvPicPr>
          <p:cNvPr id="3" name="Image 1" descr="D:\Desktop\SOC FPGA\Yuntuo\presentation\assets\chy-logo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1885" y="279441"/>
            <a:ext cx="669707" cy="35561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9761311" y="317480"/>
            <a:ext cx="12710" cy="279441"/>
          </a:xfrm>
          <a:prstGeom prst="rect">
            <a:avLst/>
          </a:prstGeom>
          <a:solidFill>
            <a:srgbClr val="253945"/>
          </a:solidFill>
          <a:ln/>
        </p:spPr>
      </p:sp>
      <p:pic>
        <p:nvPicPr>
          <p:cNvPr id="5" name="Image 2" descr="D:\Desktop\SOC FPGA\Yuntuo\presentation\assets\yuntuo-m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3742" y="279441"/>
            <a:ext cx="355610" cy="35561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0409072" y="352410"/>
            <a:ext cx="1236817" cy="234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500" b="1" spc="25" kern="0" dirty="0">
                <a:solidFill>
                  <a:srgbClr val="ECF3F4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YunTuo </a:t>
            </a:r>
            <a:r>
              <a:rPr lang="en-US" sz="1500" spc="25" kern="0" dirty="0">
                <a:solidFill>
                  <a:srgbClr val="91A7B3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Robot</a:t>
            </a:r>
            <a:endParaRPr lang="en-US" sz="1500" dirty="0"/>
          </a:p>
        </p:txBody>
      </p:sp>
      <p:sp>
        <p:nvSpPr>
          <p:cNvPr id="7" name="Text 2"/>
          <p:cNvSpPr/>
          <p:nvPr/>
        </p:nvSpPr>
        <p:spPr>
          <a:xfrm>
            <a:off x="609630" y="952530"/>
            <a:ext cx="1248247" cy="223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spc="150" kern="0" dirty="0">
                <a:solidFill>
                  <a:srgbClr val="7FE7E1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02 系统架构</a:t>
            </a:r>
            <a:endParaRPr lang="en-US" sz="1300" dirty="0"/>
          </a:p>
        </p:txBody>
      </p:sp>
      <p:sp>
        <p:nvSpPr>
          <p:cNvPr id="8" name="Text 3"/>
          <p:cNvSpPr/>
          <p:nvPr/>
        </p:nvSpPr>
        <p:spPr>
          <a:xfrm>
            <a:off x="609630" y="1181130"/>
            <a:ext cx="9620494" cy="565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b="1" spc="50" kern="0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FPGA 负责实时闭环，RK3588 负责理解任务</a:t>
            </a:r>
            <a:endParaRPr lang="en-US" sz="3400" dirty="0"/>
          </a:p>
        </p:txBody>
      </p:sp>
      <p:sp>
        <p:nvSpPr>
          <p:cNvPr id="9" name="Shape 4"/>
          <p:cNvSpPr/>
          <p:nvPr/>
        </p:nvSpPr>
        <p:spPr>
          <a:xfrm>
            <a:off x="609630" y="2006559"/>
            <a:ext cx="1904970" cy="825520"/>
          </a:xfrm>
          <a:prstGeom prst="roundRect">
            <a:avLst>
              <a:gd name="adj" fmla="val 10767"/>
            </a:avLst>
          </a:prstGeom>
          <a:solidFill>
            <a:srgbClr val="10232D">
              <a:alpha val="55000"/>
            </a:srgbClr>
          </a:solidFill>
          <a:ln w="12700">
            <a:solidFill>
              <a:srgbClr val="253945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787390" y="2185690"/>
            <a:ext cx="1612910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相机与音频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787390" y="2454890"/>
            <a:ext cx="1658630" cy="223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Astra RGB-D · 麦克风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2514600" y="2422520"/>
            <a:ext cx="508041" cy="0"/>
          </a:xfrm>
          <a:prstGeom prst="line">
            <a:avLst/>
          </a:prstGeom>
          <a:noFill/>
          <a:ln w="19050">
            <a:solidFill>
              <a:srgbClr val="7FE7E1"/>
            </a:solidFill>
            <a:prstDash val="solid"/>
            <a:tailEnd type="triangle" w="lg" len="lg"/>
          </a:ln>
        </p:spPr>
      </p:sp>
      <p:sp>
        <p:nvSpPr>
          <p:cNvPr id="13" name="Shape 8"/>
          <p:cNvSpPr/>
          <p:nvPr/>
        </p:nvSpPr>
        <p:spPr>
          <a:xfrm>
            <a:off x="3022641" y="2006559"/>
            <a:ext cx="5460980" cy="825520"/>
          </a:xfrm>
          <a:prstGeom prst="roundRect">
            <a:avLst>
              <a:gd name="adj" fmla="val 10767"/>
            </a:avLst>
          </a:prstGeom>
          <a:solidFill>
            <a:srgbClr val="10232D">
              <a:alpha val="55000"/>
            </a:srgbClr>
          </a:solidFill>
          <a:ln w="12700">
            <a:solidFill>
              <a:srgbClr val="253945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3200400" y="2177461"/>
            <a:ext cx="5366796" cy="27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RK3588 · 边缘多模态任务引擎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3200400" y="2463211"/>
            <a:ext cx="5446806" cy="223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YOLO26n · Qwen3-1.7B · SenseVoice · Matcha 语音合成 · 任务编排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483620" y="2422520"/>
            <a:ext cx="508041" cy="0"/>
          </a:xfrm>
          <a:prstGeom prst="line">
            <a:avLst/>
          </a:prstGeom>
          <a:noFill/>
          <a:ln w="19050">
            <a:solidFill>
              <a:srgbClr val="7FE7E1"/>
            </a:solidFill>
            <a:prstDash val="solid"/>
            <a:headEnd type="triangle" w="lg" len="lg"/>
            <a:tailEnd type="triangle" w="lg" len="lg"/>
          </a:ln>
        </p:spPr>
      </p:sp>
      <p:sp>
        <p:nvSpPr>
          <p:cNvPr id="17" name="Shape 12"/>
          <p:cNvSpPr/>
          <p:nvPr/>
        </p:nvSpPr>
        <p:spPr>
          <a:xfrm>
            <a:off x="8991570" y="2006559"/>
            <a:ext cx="2590770" cy="825520"/>
          </a:xfrm>
          <a:prstGeom prst="roundRect">
            <a:avLst>
              <a:gd name="adj" fmla="val 10767"/>
            </a:avLst>
          </a:prstGeom>
          <a:solidFill>
            <a:srgbClr val="10232D">
              <a:alpha val="55000"/>
            </a:srgbClr>
          </a:solidFill>
          <a:ln w="12700">
            <a:solidFill>
              <a:srgbClr val="253945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169420" y="2185690"/>
            <a:ext cx="2431298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 · Web · 小程序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9169420" y="2454890"/>
            <a:ext cx="2416028" cy="223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Nginx · 网关 · MediaMTX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216561" y="2832080"/>
            <a:ext cx="0" cy="634959"/>
          </a:xfrm>
          <a:prstGeom prst="line">
            <a:avLst/>
          </a:prstGeom>
          <a:noFill/>
          <a:ln w="19050">
            <a:solidFill>
              <a:srgbClr val="7FE7E1"/>
            </a:solidFill>
            <a:prstDash val="solid"/>
            <a:tailEnd type="triangle" w="lg" len="lg"/>
          </a:ln>
        </p:spPr>
      </p:sp>
      <p:sp>
        <p:nvSpPr>
          <p:cNvPr id="21" name="Text 16"/>
          <p:cNvSpPr/>
          <p:nvPr/>
        </p:nvSpPr>
        <p:spPr>
          <a:xfrm>
            <a:off x="2717780" y="3035259"/>
            <a:ext cx="2362170" cy="23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· 视觉目标 · 地图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308720" y="2832080"/>
            <a:ext cx="0" cy="634959"/>
          </a:xfrm>
          <a:prstGeom prst="line">
            <a:avLst/>
          </a:prstGeom>
          <a:noFill/>
          <a:ln w="19050">
            <a:solidFill>
              <a:srgbClr val="7FE7E1"/>
            </a:solidFill>
            <a:prstDash val="solid"/>
            <a:headEnd type="triangle" w="lg" len="lg"/>
          </a:ln>
        </p:spPr>
      </p:sp>
      <p:sp>
        <p:nvSpPr>
          <p:cNvPr id="23" name="Text 18"/>
          <p:cNvSpPr/>
          <p:nvPr/>
        </p:nvSpPr>
        <p:spPr>
          <a:xfrm>
            <a:off x="6438930" y="3035259"/>
            <a:ext cx="1501079" cy="23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导航状态 · 控制遥测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3022641" y="3467130"/>
            <a:ext cx="5460980" cy="2819370"/>
          </a:xfrm>
          <a:prstGeom prst="roundRect">
            <a:avLst>
              <a:gd name="adj" fmla="val 3152"/>
            </a:avLst>
          </a:prstGeom>
          <a:solidFill>
            <a:srgbClr val="7FE7E1">
              <a:alpha val="7000"/>
            </a:srgbClr>
          </a:solidFill>
          <a:ln w="12700">
            <a:solidFill>
              <a:srgbClr val="7FE7E1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3213110" y="3581430"/>
            <a:ext cx="4000134" cy="27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7FE7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高云 GW5AT-LV138 FPGA · 单片实时闭环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3213110" y="3975080"/>
            <a:ext cx="1524030" cy="2158990"/>
          </a:xfrm>
          <a:prstGeom prst="roundRect">
            <a:avLst>
              <a:gd name="adj" fmla="val 5832"/>
            </a:avLst>
          </a:prstGeom>
          <a:solidFill>
            <a:srgbClr val="10232D">
              <a:alpha val="55000"/>
            </a:srgbClr>
          </a:solidFill>
          <a:ln w="12700">
            <a:solidFill>
              <a:srgbClr val="253945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3352830" y="4299783"/>
            <a:ext cx="138303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RTL 流水线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3352830" y="4590562"/>
            <a:ext cx="1333470" cy="1244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点云投影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高程建图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地形代价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结构匹配打分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图像姿态叠加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4737141" y="5057821"/>
            <a:ext cx="254020" cy="0"/>
          </a:xfrm>
          <a:prstGeom prst="line">
            <a:avLst/>
          </a:prstGeom>
          <a:noFill/>
          <a:ln w="19050">
            <a:solidFill>
              <a:srgbClr val="7FE7E1"/>
            </a:solidFill>
            <a:prstDash val="solid"/>
            <a:tailEnd type="triangle" w="lg" len="lg"/>
          </a:ln>
        </p:spPr>
      </p:sp>
      <p:sp>
        <p:nvSpPr>
          <p:cNvPr id="30" name="Shape 25"/>
          <p:cNvSpPr/>
          <p:nvPr/>
        </p:nvSpPr>
        <p:spPr>
          <a:xfrm>
            <a:off x="4991070" y="3975080"/>
            <a:ext cx="1524030" cy="2158990"/>
          </a:xfrm>
          <a:prstGeom prst="roundRect">
            <a:avLst>
              <a:gd name="adj" fmla="val 5832"/>
            </a:avLst>
          </a:prstGeom>
          <a:solidFill>
            <a:srgbClr val="10232D">
              <a:alpha val="55000"/>
            </a:srgbClr>
          </a:solidFill>
          <a:ln w="12700">
            <a:solidFill>
              <a:srgbClr val="253945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5130790" y="4299783"/>
            <a:ext cx="138303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PicoRV32 软核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5130790" y="4590562"/>
            <a:ext cx="1379190" cy="1244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位姿融合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A* 全局规划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局部轨迹选择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探索与跟踪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速度安全约束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6515100" y="5057821"/>
            <a:ext cx="254020" cy="0"/>
          </a:xfrm>
          <a:prstGeom prst="line">
            <a:avLst/>
          </a:prstGeom>
          <a:noFill/>
          <a:ln w="19050">
            <a:solidFill>
              <a:srgbClr val="7FE7E1"/>
            </a:solidFill>
            <a:prstDash val="solid"/>
            <a:tailEnd type="triangle" w="lg" len="lg"/>
          </a:ln>
        </p:spPr>
      </p:sp>
      <p:sp>
        <p:nvSpPr>
          <p:cNvPr id="34" name="Shape 29"/>
          <p:cNvSpPr/>
          <p:nvPr/>
        </p:nvSpPr>
        <p:spPr>
          <a:xfrm>
            <a:off x="6769120" y="3975080"/>
            <a:ext cx="1524030" cy="2158990"/>
          </a:xfrm>
          <a:prstGeom prst="roundRect">
            <a:avLst>
              <a:gd name="adj" fmla="val 5832"/>
            </a:avLst>
          </a:prstGeom>
          <a:solidFill>
            <a:srgbClr val="10232D">
              <a:alpha val="55000"/>
            </a:srgbClr>
          </a:solidFill>
          <a:ln w="12700">
            <a:solidFill>
              <a:srgbClr val="253945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6908841" y="4299783"/>
            <a:ext cx="133347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强化学习控制</a:t>
            </a:r>
            <a:endParaRPr lang="en-US" sz="1300" dirty="0"/>
          </a:p>
        </p:txBody>
      </p:sp>
      <p:sp>
        <p:nvSpPr>
          <p:cNvPr id="36" name="Text 31"/>
          <p:cNvSpPr/>
          <p:nvPr/>
        </p:nvSpPr>
        <p:spPr>
          <a:xfrm>
            <a:off x="6908841" y="4590562"/>
            <a:ext cx="1470630" cy="1244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4500 策略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125 Hz 推理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高度逆运动学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轮速闭环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舵机 · 电机 PWM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609630" y="3619470"/>
            <a:ext cx="1904970" cy="533370"/>
          </a:xfrm>
          <a:prstGeom prst="roundRect">
            <a:avLst>
              <a:gd name="adj" fmla="val 16664"/>
            </a:avLst>
          </a:prstGeom>
          <a:solidFill>
            <a:srgbClr val="10232D">
              <a:alpha val="55000"/>
            </a:srgbClr>
          </a:solidFill>
          <a:ln w="12700">
            <a:solidFill>
              <a:srgbClr val="253945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787390" y="3681374"/>
            <a:ext cx="1662471" cy="2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XT-M60 固态雷达</a:t>
            </a:r>
            <a:endParaRPr lang="en-US" sz="1300" dirty="0"/>
          </a:p>
        </p:txBody>
      </p:sp>
      <p:sp>
        <p:nvSpPr>
          <p:cNvPr id="39" name="Text 34"/>
          <p:cNvSpPr/>
          <p:nvPr/>
        </p:nvSpPr>
        <p:spPr>
          <a:xfrm>
            <a:off x="787390" y="3900465"/>
            <a:ext cx="1704350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以太网 · 深度点云</a:t>
            </a:r>
            <a:endParaRPr lang="en-US" sz="1200" dirty="0"/>
          </a:p>
        </p:txBody>
      </p:sp>
      <p:sp>
        <p:nvSpPr>
          <p:cNvPr id="40" name="Shape 35"/>
          <p:cNvSpPr/>
          <p:nvPr/>
        </p:nvSpPr>
        <p:spPr>
          <a:xfrm>
            <a:off x="2514600" y="3889400"/>
            <a:ext cx="508041" cy="0"/>
          </a:xfrm>
          <a:prstGeom prst="line">
            <a:avLst/>
          </a:prstGeom>
          <a:noFill/>
          <a:ln w="19050">
            <a:solidFill>
              <a:srgbClr val="7FE7E1"/>
            </a:solidFill>
            <a:prstDash val="solid"/>
            <a:tailEnd type="triangle" w="lg" len="lg"/>
          </a:ln>
        </p:spPr>
      </p:sp>
      <p:sp>
        <p:nvSpPr>
          <p:cNvPr id="41" name="Shape 36"/>
          <p:cNvSpPr/>
          <p:nvPr/>
        </p:nvSpPr>
        <p:spPr>
          <a:xfrm>
            <a:off x="609630" y="4317980"/>
            <a:ext cx="1904970" cy="533370"/>
          </a:xfrm>
          <a:prstGeom prst="roundRect">
            <a:avLst>
              <a:gd name="adj" fmla="val 16664"/>
            </a:avLst>
          </a:prstGeom>
          <a:solidFill>
            <a:srgbClr val="10232D">
              <a:alpha val="55000"/>
            </a:srgbClr>
          </a:solidFill>
          <a:ln w="12700">
            <a:solidFill>
              <a:srgbClr val="253945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787390" y="4379885"/>
            <a:ext cx="1612910" cy="2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摄像头</a:t>
            </a:r>
            <a:endParaRPr lang="en-US" sz="1300" dirty="0"/>
          </a:p>
        </p:txBody>
      </p:sp>
      <p:sp>
        <p:nvSpPr>
          <p:cNvPr id="43" name="Text 38"/>
          <p:cNvSpPr/>
          <p:nvPr/>
        </p:nvSpPr>
        <p:spPr>
          <a:xfrm>
            <a:off x="787390" y="4598975"/>
            <a:ext cx="1658630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FPGA 直接采集</a:t>
            </a:r>
            <a:endParaRPr lang="en-US" sz="1200" dirty="0"/>
          </a:p>
        </p:txBody>
      </p:sp>
      <p:sp>
        <p:nvSpPr>
          <p:cNvPr id="44" name="Shape 39"/>
          <p:cNvSpPr/>
          <p:nvPr/>
        </p:nvSpPr>
        <p:spPr>
          <a:xfrm>
            <a:off x="2514600" y="4587911"/>
            <a:ext cx="508041" cy="0"/>
          </a:xfrm>
          <a:prstGeom prst="line">
            <a:avLst/>
          </a:prstGeom>
          <a:noFill/>
          <a:ln w="19050">
            <a:solidFill>
              <a:srgbClr val="7FE7E1"/>
            </a:solidFill>
            <a:prstDash val="solid"/>
            <a:tailEnd type="triangle" w="lg" len="lg"/>
          </a:ln>
        </p:spPr>
      </p:sp>
      <p:sp>
        <p:nvSpPr>
          <p:cNvPr id="45" name="Shape 40"/>
          <p:cNvSpPr/>
          <p:nvPr/>
        </p:nvSpPr>
        <p:spPr>
          <a:xfrm>
            <a:off x="609630" y="5016490"/>
            <a:ext cx="1904970" cy="533370"/>
          </a:xfrm>
          <a:prstGeom prst="roundRect">
            <a:avLst>
              <a:gd name="adj" fmla="val 16664"/>
            </a:avLst>
          </a:prstGeom>
          <a:solidFill>
            <a:srgbClr val="10232D">
              <a:alpha val="55000"/>
            </a:srgbClr>
          </a:solidFill>
          <a:ln w="12700">
            <a:solidFill>
              <a:srgbClr val="253945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787390" y="5078395"/>
            <a:ext cx="1612910" cy="2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BMI088 IMU</a:t>
            </a:r>
            <a:endParaRPr lang="en-US" sz="1300" dirty="0"/>
          </a:p>
        </p:txBody>
      </p:sp>
      <p:sp>
        <p:nvSpPr>
          <p:cNvPr id="47" name="Text 42"/>
          <p:cNvSpPr/>
          <p:nvPr/>
        </p:nvSpPr>
        <p:spPr>
          <a:xfrm>
            <a:off x="787390" y="5297485"/>
            <a:ext cx="1658630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I²C · 姿态与角速度</a:t>
            </a:r>
            <a:endParaRPr lang="en-US" sz="1200" dirty="0"/>
          </a:p>
        </p:txBody>
      </p:sp>
      <p:sp>
        <p:nvSpPr>
          <p:cNvPr id="48" name="Shape 43"/>
          <p:cNvSpPr/>
          <p:nvPr/>
        </p:nvSpPr>
        <p:spPr>
          <a:xfrm>
            <a:off x="2514600" y="5286421"/>
            <a:ext cx="508041" cy="0"/>
          </a:xfrm>
          <a:prstGeom prst="line">
            <a:avLst/>
          </a:prstGeom>
          <a:noFill/>
          <a:ln w="19050">
            <a:solidFill>
              <a:srgbClr val="7FE7E1"/>
            </a:solidFill>
            <a:prstDash val="solid"/>
            <a:tailEnd type="triangle" w="lg" len="lg"/>
          </a:ln>
        </p:spPr>
      </p:sp>
      <p:sp>
        <p:nvSpPr>
          <p:cNvPr id="49" name="Shape 44"/>
          <p:cNvSpPr/>
          <p:nvPr/>
        </p:nvSpPr>
        <p:spPr>
          <a:xfrm>
            <a:off x="609630" y="5715000"/>
            <a:ext cx="1904970" cy="533370"/>
          </a:xfrm>
          <a:prstGeom prst="roundRect">
            <a:avLst>
              <a:gd name="adj" fmla="val 16664"/>
            </a:avLst>
          </a:prstGeom>
          <a:solidFill>
            <a:srgbClr val="10232D">
              <a:alpha val="55000"/>
            </a:srgbClr>
          </a:solidFill>
          <a:ln w="12700">
            <a:solidFill>
              <a:srgbClr val="253945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787390" y="5776905"/>
            <a:ext cx="1662471" cy="2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 编码器</a:t>
            </a:r>
            <a:endParaRPr lang="en-US" sz="1300" dirty="0"/>
          </a:p>
        </p:txBody>
      </p:sp>
      <p:sp>
        <p:nvSpPr>
          <p:cNvPr id="51" name="Text 46"/>
          <p:cNvSpPr/>
          <p:nvPr/>
        </p:nvSpPr>
        <p:spPr>
          <a:xfrm>
            <a:off x="787390" y="5995995"/>
            <a:ext cx="1612910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双轮轮速</a:t>
            </a:r>
            <a:endParaRPr lang="en-US" sz="1200" dirty="0"/>
          </a:p>
        </p:txBody>
      </p:sp>
      <p:sp>
        <p:nvSpPr>
          <p:cNvPr id="52" name="Shape 47"/>
          <p:cNvSpPr/>
          <p:nvPr/>
        </p:nvSpPr>
        <p:spPr>
          <a:xfrm>
            <a:off x="2514600" y="5984839"/>
            <a:ext cx="508041" cy="0"/>
          </a:xfrm>
          <a:prstGeom prst="line">
            <a:avLst/>
          </a:prstGeom>
          <a:noFill/>
          <a:ln w="19050">
            <a:solidFill>
              <a:srgbClr val="7FE7E1"/>
            </a:solidFill>
            <a:prstDash val="solid"/>
            <a:tailEnd type="triangle" w="lg" len="lg"/>
          </a:ln>
        </p:spPr>
      </p:sp>
      <p:sp>
        <p:nvSpPr>
          <p:cNvPr id="53" name="Shape 48"/>
          <p:cNvSpPr/>
          <p:nvPr/>
        </p:nvSpPr>
        <p:spPr>
          <a:xfrm>
            <a:off x="8483620" y="4333890"/>
            <a:ext cx="508041" cy="0"/>
          </a:xfrm>
          <a:prstGeom prst="line">
            <a:avLst/>
          </a:prstGeom>
          <a:noFill/>
          <a:ln w="19050">
            <a:solidFill>
              <a:srgbClr val="7FE7E1"/>
            </a:solidFill>
            <a:prstDash val="solid"/>
            <a:tailEnd type="triangle" w="lg" len="lg"/>
          </a:ln>
        </p:spPr>
      </p:sp>
      <p:sp>
        <p:nvSpPr>
          <p:cNvPr id="54" name="Shape 49"/>
          <p:cNvSpPr/>
          <p:nvPr/>
        </p:nvSpPr>
        <p:spPr>
          <a:xfrm>
            <a:off x="8991570" y="4063959"/>
            <a:ext cx="2590770" cy="533370"/>
          </a:xfrm>
          <a:prstGeom prst="roundRect">
            <a:avLst>
              <a:gd name="adj" fmla="val 16664"/>
            </a:avLst>
          </a:prstGeom>
          <a:solidFill>
            <a:srgbClr val="10232D">
              <a:alpha val="55000"/>
            </a:srgbClr>
          </a:solidFill>
          <a:ln w="12700">
            <a:solidFill>
              <a:srgbClr val="253945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9169420" y="4125956"/>
            <a:ext cx="2374148" cy="2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双轮电机 ×2</a:t>
            </a:r>
            <a:endParaRPr lang="en-US" sz="1300" dirty="0"/>
          </a:p>
        </p:txBody>
      </p:sp>
      <p:sp>
        <p:nvSpPr>
          <p:cNvPr id="56" name="Text 51"/>
          <p:cNvSpPr/>
          <p:nvPr/>
        </p:nvSpPr>
        <p:spPr>
          <a:xfrm>
            <a:off x="9169420" y="4344954"/>
            <a:ext cx="2370308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编码器速度闭环 · PWM</a:t>
            </a:r>
            <a:endParaRPr lang="en-US" sz="1200" dirty="0"/>
          </a:p>
        </p:txBody>
      </p:sp>
      <p:sp>
        <p:nvSpPr>
          <p:cNvPr id="57" name="Shape 52"/>
          <p:cNvSpPr/>
          <p:nvPr/>
        </p:nvSpPr>
        <p:spPr>
          <a:xfrm>
            <a:off x="8483620" y="5032400"/>
            <a:ext cx="508041" cy="0"/>
          </a:xfrm>
          <a:prstGeom prst="line">
            <a:avLst/>
          </a:prstGeom>
          <a:noFill/>
          <a:ln w="19050">
            <a:solidFill>
              <a:srgbClr val="7FE7E1"/>
            </a:solidFill>
            <a:prstDash val="solid"/>
            <a:tailEnd type="triangle" w="lg" len="lg"/>
          </a:ln>
        </p:spPr>
      </p:sp>
      <p:sp>
        <p:nvSpPr>
          <p:cNvPr id="58" name="Shape 53"/>
          <p:cNvSpPr/>
          <p:nvPr/>
        </p:nvSpPr>
        <p:spPr>
          <a:xfrm>
            <a:off x="8991570" y="4762470"/>
            <a:ext cx="2590770" cy="533370"/>
          </a:xfrm>
          <a:prstGeom prst="roundRect">
            <a:avLst>
              <a:gd name="adj" fmla="val 16664"/>
            </a:avLst>
          </a:prstGeom>
          <a:solidFill>
            <a:srgbClr val="10232D">
              <a:alpha val="55000"/>
            </a:srgbClr>
          </a:solidFill>
          <a:ln w="12700">
            <a:solidFill>
              <a:srgbClr val="253945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9169420" y="4824374"/>
            <a:ext cx="2374148" cy="2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腿部舵机 ×4</a:t>
            </a:r>
            <a:endParaRPr lang="en-US" sz="1300" dirty="0"/>
          </a:p>
        </p:txBody>
      </p:sp>
      <p:sp>
        <p:nvSpPr>
          <p:cNvPr id="60" name="Text 55"/>
          <p:cNvSpPr/>
          <p:nvPr/>
        </p:nvSpPr>
        <p:spPr>
          <a:xfrm>
            <a:off x="9169420" y="5043465"/>
            <a:ext cx="2370308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高度逆运动学 · PWM</a:t>
            </a:r>
            <a:endParaRPr lang="en-US" sz="1200" dirty="0"/>
          </a:p>
        </p:txBody>
      </p:sp>
      <p:sp>
        <p:nvSpPr>
          <p:cNvPr id="61" name="Shape 56"/>
          <p:cNvSpPr/>
          <p:nvPr/>
        </p:nvSpPr>
        <p:spPr>
          <a:xfrm>
            <a:off x="8483620" y="5730911"/>
            <a:ext cx="508041" cy="0"/>
          </a:xfrm>
          <a:prstGeom prst="line">
            <a:avLst/>
          </a:prstGeom>
          <a:noFill/>
          <a:ln w="19050">
            <a:solidFill>
              <a:srgbClr val="7FE7E1"/>
            </a:solidFill>
            <a:prstDash val="solid"/>
            <a:tailEnd type="triangle" w="lg" len="lg"/>
          </a:ln>
        </p:spPr>
      </p:sp>
      <p:sp>
        <p:nvSpPr>
          <p:cNvPr id="62" name="Shape 57"/>
          <p:cNvSpPr/>
          <p:nvPr/>
        </p:nvSpPr>
        <p:spPr>
          <a:xfrm>
            <a:off x="8991570" y="5460980"/>
            <a:ext cx="2590770" cy="533370"/>
          </a:xfrm>
          <a:prstGeom prst="roundRect">
            <a:avLst>
              <a:gd name="adj" fmla="val 16664"/>
            </a:avLst>
          </a:prstGeom>
          <a:solidFill>
            <a:srgbClr val="10232D">
              <a:alpha val="55000"/>
            </a:srgbClr>
          </a:solidFill>
          <a:ln w="12700">
            <a:solidFill>
              <a:srgbClr val="253945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9169420" y="5522885"/>
            <a:ext cx="2374148" cy="2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HDMI 显示器</a:t>
            </a:r>
            <a:endParaRPr lang="en-US" sz="1300" dirty="0"/>
          </a:p>
        </p:txBody>
      </p:sp>
      <p:sp>
        <p:nvSpPr>
          <p:cNvPr id="64" name="Text 59"/>
          <p:cNvSpPr/>
          <p:nvPr/>
        </p:nvSpPr>
        <p:spPr>
          <a:xfrm>
            <a:off x="9169420" y="5741975"/>
            <a:ext cx="2416028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摄像头画面 + 姿态角叠加</a:t>
            </a:r>
            <a:endParaRPr lang="en-US" sz="1200" dirty="0"/>
          </a:p>
        </p:txBody>
      </p:sp>
      <p:sp>
        <p:nvSpPr>
          <p:cNvPr id="65" name="Text 60"/>
          <p:cNvSpPr/>
          <p:nvPr/>
        </p:nvSpPr>
        <p:spPr>
          <a:xfrm>
            <a:off x="609630" y="6438930"/>
            <a:ext cx="2091964" cy="2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云拓 YunTuo · 技术方案介绍</a:t>
            </a:r>
            <a:endParaRPr lang="en-US" sz="1200" dirty="0"/>
          </a:p>
        </p:txBody>
      </p:sp>
      <p:sp>
        <p:nvSpPr>
          <p:cNvPr id="66" name="Text 61"/>
          <p:cNvSpPr/>
          <p:nvPr/>
        </p:nvSpPr>
        <p:spPr>
          <a:xfrm>
            <a:off x="11045586" y="6438930"/>
            <a:ext cx="536753" cy="2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03 / 08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Desktop\SOC FPGA\Yuntuo\presentation\assets\fpga-competi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10" y="215890"/>
            <a:ext cx="1455999" cy="508041"/>
          </a:xfrm>
          <a:prstGeom prst="rect">
            <a:avLst/>
          </a:prstGeom>
        </p:spPr>
      </p:pic>
      <p:pic>
        <p:nvPicPr>
          <p:cNvPr id="3" name="Image 1" descr="D:\Desktop\SOC FPGA\Yuntuo\presentation\assets\chy-logo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1885" y="279441"/>
            <a:ext cx="669707" cy="35561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9761311" y="317480"/>
            <a:ext cx="12710" cy="279441"/>
          </a:xfrm>
          <a:prstGeom prst="rect">
            <a:avLst/>
          </a:prstGeom>
          <a:solidFill>
            <a:srgbClr val="253945"/>
          </a:solidFill>
          <a:ln/>
        </p:spPr>
      </p:sp>
      <p:pic>
        <p:nvPicPr>
          <p:cNvPr id="5" name="Image 2" descr="D:\Desktop\SOC FPGA\Yuntuo\presentation\assets\yuntuo-m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3742" y="279441"/>
            <a:ext cx="355610" cy="35561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0409072" y="352410"/>
            <a:ext cx="1236817" cy="234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500" b="1" spc="25" kern="0" dirty="0">
                <a:solidFill>
                  <a:srgbClr val="ECF3F4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YunTuo </a:t>
            </a:r>
            <a:r>
              <a:rPr lang="en-US" sz="1500" spc="25" kern="0" dirty="0">
                <a:solidFill>
                  <a:srgbClr val="91A7B3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Robot</a:t>
            </a:r>
            <a:endParaRPr lang="en-US" sz="1500" dirty="0"/>
          </a:p>
        </p:txBody>
      </p:sp>
      <p:sp>
        <p:nvSpPr>
          <p:cNvPr id="7" name="Text 2"/>
          <p:cNvSpPr/>
          <p:nvPr/>
        </p:nvSpPr>
        <p:spPr>
          <a:xfrm>
            <a:off x="609630" y="952530"/>
            <a:ext cx="1796705" cy="223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spc="150" kern="0" dirty="0">
                <a:solidFill>
                  <a:srgbClr val="7FE7E1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03 FPGA 片上设计</a:t>
            </a:r>
            <a:endParaRPr lang="en-US" sz="1300" dirty="0"/>
          </a:p>
        </p:txBody>
      </p:sp>
      <p:sp>
        <p:nvSpPr>
          <p:cNvPr id="8" name="Text 3"/>
          <p:cNvSpPr/>
          <p:nvPr/>
        </p:nvSpPr>
        <p:spPr>
          <a:xfrm>
            <a:off x="609630" y="1181130"/>
            <a:ext cx="8202168" cy="565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b="1" spc="50" kern="0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同片集成：硬件流水线、软核与策略推理</a:t>
            </a:r>
            <a:endParaRPr lang="en-US" sz="3400" dirty="0"/>
          </a:p>
        </p:txBody>
      </p:sp>
      <p:sp>
        <p:nvSpPr>
          <p:cNvPr id="9" name="Shape 4"/>
          <p:cNvSpPr/>
          <p:nvPr/>
        </p:nvSpPr>
        <p:spPr>
          <a:xfrm>
            <a:off x="609630" y="2006559"/>
            <a:ext cx="7302490" cy="4279941"/>
          </a:xfrm>
          <a:prstGeom prst="roundRect">
            <a:avLst>
              <a:gd name="adj" fmla="val 2671"/>
            </a:avLst>
          </a:prstGeom>
          <a:solidFill>
            <a:srgbClr val="0C1B25">
              <a:alpha val="55000"/>
            </a:srgbClr>
          </a:solidFill>
          <a:ln w="12700">
            <a:solidFill>
              <a:srgbClr val="253945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787390" y="2095530"/>
            <a:ext cx="1897380" cy="23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91A7B3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GW5AT-LV138 · ACX750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787390" y="2413010"/>
            <a:ext cx="3397270" cy="2095530"/>
          </a:xfrm>
          <a:prstGeom prst="roundRect">
            <a:avLst>
              <a:gd name="adj" fmla="val 4241"/>
            </a:avLst>
          </a:prstGeom>
          <a:solidFill>
            <a:srgbClr val="7FE7E1">
              <a:alpha val="7000"/>
            </a:srgbClr>
          </a:solidFill>
          <a:ln w="12700">
            <a:solidFill>
              <a:srgbClr val="7FE7E1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952530" y="2527310"/>
            <a:ext cx="1482151" cy="27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7FE7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RTL 硬件流水线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952530" y="2895630"/>
            <a:ext cx="1251539" cy="294620"/>
          </a:xfrm>
          <a:prstGeom prst="roundRect">
            <a:avLst>
              <a:gd name="adj" fmla="val 21539"/>
            </a:avLst>
          </a:prstGeom>
          <a:solidFill>
            <a:srgbClr val="08121A">
              <a:alpha val="60000"/>
            </a:srgbClr>
          </a:solidFill>
          <a:ln w="12700">
            <a:solidFill>
              <a:srgbClr val="253945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1066830" y="2940070"/>
            <a:ext cx="1177930" cy="231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雷达 UDP 收包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2280239" y="2895630"/>
            <a:ext cx="1080821" cy="294620"/>
          </a:xfrm>
          <a:prstGeom prst="roundRect">
            <a:avLst>
              <a:gd name="adj" fmla="val 21539"/>
            </a:avLst>
          </a:prstGeom>
          <a:solidFill>
            <a:srgbClr val="08121A">
              <a:alpha val="60000"/>
            </a:srgbClr>
          </a:solidFill>
          <a:ln w="12700">
            <a:solidFill>
              <a:srgbClr val="253945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2394539" y="2940070"/>
            <a:ext cx="1007120" cy="231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 → 点云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952530" y="3266420"/>
            <a:ext cx="1269919" cy="294620"/>
          </a:xfrm>
          <a:prstGeom prst="roundRect">
            <a:avLst>
              <a:gd name="adj" fmla="val 21539"/>
            </a:avLst>
          </a:prstGeom>
          <a:solidFill>
            <a:srgbClr val="08121A">
              <a:alpha val="60000"/>
            </a:srgbClr>
          </a:solidFill>
          <a:ln w="12700">
            <a:solidFill>
              <a:srgbClr val="253945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066830" y="3310860"/>
            <a:ext cx="1196218" cy="231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外参 · 姿态变换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2298619" y="3266420"/>
            <a:ext cx="990570" cy="294620"/>
          </a:xfrm>
          <a:prstGeom prst="roundRect">
            <a:avLst>
              <a:gd name="adj" fmla="val 21539"/>
            </a:avLst>
          </a:prstGeom>
          <a:solidFill>
            <a:srgbClr val="08121A">
              <a:alpha val="60000"/>
            </a:srgbClr>
          </a:solidFill>
          <a:ln w="12700">
            <a:solidFill>
              <a:srgbClr val="253945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2412919" y="3310860"/>
            <a:ext cx="825520" cy="231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滚动高程图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952530" y="3637117"/>
            <a:ext cx="1269919" cy="294620"/>
          </a:xfrm>
          <a:prstGeom prst="roundRect">
            <a:avLst>
              <a:gd name="adj" fmla="val 21539"/>
            </a:avLst>
          </a:prstGeom>
          <a:solidFill>
            <a:srgbClr val="08121A">
              <a:alpha val="60000"/>
            </a:srgbClr>
          </a:solidFill>
          <a:ln w="12700">
            <a:solidFill>
              <a:srgbClr val="253945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1066830" y="3681649"/>
            <a:ext cx="1196218" cy="231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地形代价 · 膨胀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2298619" y="3637117"/>
            <a:ext cx="1130473" cy="294620"/>
          </a:xfrm>
          <a:prstGeom prst="roundRect">
            <a:avLst>
              <a:gd name="adj" fmla="val 21539"/>
            </a:avLst>
          </a:prstGeom>
          <a:solidFill>
            <a:srgbClr val="08121A">
              <a:alpha val="60000"/>
            </a:srgbClr>
          </a:solidFill>
          <a:ln w="12700">
            <a:solidFill>
              <a:srgbClr val="253945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2412919" y="3681649"/>
            <a:ext cx="1011144" cy="231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SLF 匹配打分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952530" y="4007907"/>
            <a:ext cx="1143000" cy="294620"/>
          </a:xfrm>
          <a:prstGeom prst="roundRect">
            <a:avLst>
              <a:gd name="adj" fmla="val 21539"/>
            </a:avLst>
          </a:prstGeom>
          <a:solidFill>
            <a:srgbClr val="08121A">
              <a:alpha val="60000"/>
            </a:srgbClr>
          </a:solidFill>
          <a:ln w="12700">
            <a:solidFill>
              <a:srgbClr val="253945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1066830" y="4052346"/>
            <a:ext cx="977859" cy="231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候选轨迹评估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2171700" y="4007907"/>
            <a:ext cx="1574688" cy="294620"/>
          </a:xfrm>
          <a:prstGeom prst="roundRect">
            <a:avLst>
              <a:gd name="adj" fmla="val 21539"/>
            </a:avLst>
          </a:prstGeom>
          <a:solidFill>
            <a:srgbClr val="08121A">
              <a:alpha val="60000"/>
            </a:srgbClr>
          </a:solidFill>
          <a:ln w="12700">
            <a:solidFill>
              <a:srgbClr val="253945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2286000" y="4052346"/>
            <a:ext cx="1501079" cy="231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图像采集 · 姿态叠加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4337091" y="2413010"/>
            <a:ext cx="3397270" cy="2095530"/>
          </a:xfrm>
          <a:prstGeom prst="roundRect">
            <a:avLst>
              <a:gd name="adj" fmla="val 4241"/>
            </a:avLst>
          </a:prstGeom>
          <a:solidFill>
            <a:srgbClr val="10232D">
              <a:alpha val="55000"/>
            </a:srgbClr>
          </a:solidFill>
          <a:ln w="12700">
            <a:solidFill>
              <a:srgbClr val="253945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502140" y="2527310"/>
            <a:ext cx="2477292" cy="27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PicoRV32 软核 · 128 KiB</a:t>
            </a:r>
            <a:endParaRPr lang="en-US" sz="1500" dirty="0"/>
          </a:p>
        </p:txBody>
      </p:sp>
      <p:sp>
        <p:nvSpPr>
          <p:cNvPr id="31" name="Shape 26"/>
          <p:cNvSpPr/>
          <p:nvPr/>
        </p:nvSpPr>
        <p:spPr>
          <a:xfrm>
            <a:off x="4502140" y="2895630"/>
            <a:ext cx="1203625" cy="294620"/>
          </a:xfrm>
          <a:prstGeom prst="roundRect">
            <a:avLst>
              <a:gd name="adj" fmla="val 21539"/>
            </a:avLst>
          </a:prstGeom>
          <a:solidFill>
            <a:srgbClr val="08121A">
              <a:alpha val="60000"/>
            </a:srgbClr>
          </a:solidFill>
          <a:ln w="12700">
            <a:solidFill>
              <a:srgbClr val="253945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4616440" y="2940070"/>
            <a:ext cx="1129924" cy="231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雷达 TCP 启动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5781934" y="2895630"/>
            <a:ext cx="838230" cy="294620"/>
          </a:xfrm>
          <a:prstGeom prst="roundRect">
            <a:avLst>
              <a:gd name="adj" fmla="val 21539"/>
            </a:avLst>
          </a:prstGeom>
          <a:solidFill>
            <a:srgbClr val="08121A">
              <a:alpha val="60000"/>
            </a:srgbClr>
          </a:solidFill>
          <a:ln w="12700">
            <a:solidFill>
              <a:srgbClr val="253945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5896234" y="2940070"/>
            <a:ext cx="673090" cy="231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位姿融合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4502140" y="3266420"/>
            <a:ext cx="1049548" cy="294620"/>
          </a:xfrm>
          <a:prstGeom prst="roundRect">
            <a:avLst>
              <a:gd name="adj" fmla="val 21539"/>
            </a:avLst>
          </a:prstGeom>
          <a:solidFill>
            <a:srgbClr val="08121A">
              <a:alpha val="60000"/>
            </a:srgbClr>
          </a:solidFill>
          <a:ln w="12700">
            <a:solidFill>
              <a:srgbClr val="253945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4616440" y="3310860"/>
            <a:ext cx="930128" cy="231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A* 全局规划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5627858" y="3266420"/>
            <a:ext cx="838230" cy="294620"/>
          </a:xfrm>
          <a:prstGeom prst="roundRect">
            <a:avLst>
              <a:gd name="adj" fmla="val 21539"/>
            </a:avLst>
          </a:prstGeom>
          <a:solidFill>
            <a:srgbClr val="08121A">
              <a:alpha val="60000"/>
            </a:srgbClr>
          </a:solidFill>
          <a:ln w="12700">
            <a:solidFill>
              <a:srgbClr val="253945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5742158" y="3310860"/>
            <a:ext cx="673090" cy="231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局部规划</a:t>
            </a:r>
            <a:endParaRPr lang="en-US" sz="1200" dirty="0"/>
          </a:p>
        </p:txBody>
      </p:sp>
      <p:sp>
        <p:nvSpPr>
          <p:cNvPr id="39" name="Shape 34"/>
          <p:cNvSpPr/>
          <p:nvPr/>
        </p:nvSpPr>
        <p:spPr>
          <a:xfrm>
            <a:off x="4502140" y="3637117"/>
            <a:ext cx="1295430" cy="294620"/>
          </a:xfrm>
          <a:prstGeom prst="roundRect">
            <a:avLst>
              <a:gd name="adj" fmla="val 21539"/>
            </a:avLst>
          </a:prstGeom>
          <a:solidFill>
            <a:srgbClr val="08121A">
              <a:alpha val="60000"/>
            </a:srgbClr>
          </a:solidFill>
          <a:ln w="12700">
            <a:solidFill>
              <a:srgbClr val="253945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4616440" y="3681649"/>
            <a:ext cx="1130290" cy="231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探索与目标跟踪</a:t>
            </a:r>
            <a:endParaRPr lang="en-US" sz="1200" dirty="0"/>
          </a:p>
        </p:txBody>
      </p:sp>
      <p:sp>
        <p:nvSpPr>
          <p:cNvPr id="41" name="Shape 36"/>
          <p:cNvSpPr/>
          <p:nvPr/>
        </p:nvSpPr>
        <p:spPr>
          <a:xfrm>
            <a:off x="5873740" y="3637117"/>
            <a:ext cx="990570" cy="294620"/>
          </a:xfrm>
          <a:prstGeom prst="roundRect">
            <a:avLst>
              <a:gd name="adj" fmla="val 21539"/>
            </a:avLst>
          </a:prstGeom>
          <a:solidFill>
            <a:srgbClr val="08121A">
              <a:alpha val="60000"/>
            </a:srgbClr>
          </a:solidFill>
          <a:ln w="12700">
            <a:solidFill>
              <a:srgbClr val="253945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5988040" y="3681649"/>
            <a:ext cx="825520" cy="231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导航状态机</a:t>
            </a:r>
            <a:endParaRPr lang="en-US" sz="1200" dirty="0"/>
          </a:p>
        </p:txBody>
      </p:sp>
      <p:sp>
        <p:nvSpPr>
          <p:cNvPr id="43" name="Shape 38"/>
          <p:cNvSpPr/>
          <p:nvPr/>
        </p:nvSpPr>
        <p:spPr>
          <a:xfrm>
            <a:off x="4502140" y="4007907"/>
            <a:ext cx="1110264" cy="294620"/>
          </a:xfrm>
          <a:prstGeom prst="roundRect">
            <a:avLst>
              <a:gd name="adj" fmla="val 21539"/>
            </a:avLst>
          </a:prstGeom>
          <a:solidFill>
            <a:srgbClr val="08121A">
              <a:alpha val="60000"/>
            </a:srgbClr>
          </a:solidFill>
          <a:ln w="12700">
            <a:solidFill>
              <a:srgbClr val="253945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4616440" y="4052346"/>
            <a:ext cx="990844" cy="231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 主机协议</a:t>
            </a:r>
            <a:endParaRPr lang="en-US" sz="1200" dirty="0"/>
          </a:p>
        </p:txBody>
      </p:sp>
      <p:sp>
        <p:nvSpPr>
          <p:cNvPr id="45" name="Shape 40"/>
          <p:cNvSpPr/>
          <p:nvPr/>
        </p:nvSpPr>
        <p:spPr>
          <a:xfrm>
            <a:off x="787390" y="4660880"/>
            <a:ext cx="3397270" cy="1447770"/>
          </a:xfrm>
          <a:prstGeom prst="roundRect">
            <a:avLst>
              <a:gd name="adj" fmla="val 6139"/>
            </a:avLst>
          </a:prstGeom>
          <a:solidFill>
            <a:srgbClr val="10232D">
              <a:alpha val="55000"/>
            </a:srgbClr>
          </a:solidFill>
          <a:ln w="12700">
            <a:solidFill>
              <a:srgbClr val="253945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952530" y="4775180"/>
            <a:ext cx="1587490" cy="27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强化学习运动控制</a:t>
            </a:r>
            <a:endParaRPr lang="en-US" sz="1500" dirty="0"/>
          </a:p>
        </p:txBody>
      </p:sp>
      <p:sp>
        <p:nvSpPr>
          <p:cNvPr id="47" name="Shape 42"/>
          <p:cNvSpPr/>
          <p:nvPr/>
        </p:nvSpPr>
        <p:spPr>
          <a:xfrm>
            <a:off x="952530" y="5143500"/>
            <a:ext cx="1766346" cy="294620"/>
          </a:xfrm>
          <a:prstGeom prst="roundRect">
            <a:avLst>
              <a:gd name="adj" fmla="val 21539"/>
            </a:avLst>
          </a:prstGeom>
          <a:solidFill>
            <a:srgbClr val="08121A">
              <a:alpha val="60000"/>
            </a:srgbClr>
          </a:solidFill>
          <a:ln w="12700">
            <a:solidFill>
              <a:srgbClr val="253945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1066830" y="5187940"/>
            <a:ext cx="1738457" cy="231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4500 策略 · 125 Hz</a:t>
            </a:r>
            <a:endParaRPr lang="en-US" sz="1200" dirty="0"/>
          </a:p>
        </p:txBody>
      </p:sp>
      <p:sp>
        <p:nvSpPr>
          <p:cNvPr id="49" name="Shape 44"/>
          <p:cNvSpPr/>
          <p:nvPr/>
        </p:nvSpPr>
        <p:spPr>
          <a:xfrm>
            <a:off x="2795046" y="5143500"/>
            <a:ext cx="1143000" cy="294620"/>
          </a:xfrm>
          <a:prstGeom prst="roundRect">
            <a:avLst>
              <a:gd name="adj" fmla="val 21539"/>
            </a:avLst>
          </a:prstGeom>
          <a:solidFill>
            <a:srgbClr val="08121A">
              <a:alpha val="60000"/>
            </a:srgbClr>
          </a:solidFill>
          <a:ln w="12700">
            <a:solidFill>
              <a:srgbClr val="253945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2909346" y="5187940"/>
            <a:ext cx="977859" cy="231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高度逆运动学</a:t>
            </a:r>
            <a:endParaRPr lang="en-US" sz="1200" dirty="0"/>
          </a:p>
        </p:txBody>
      </p:sp>
      <p:sp>
        <p:nvSpPr>
          <p:cNvPr id="51" name="Shape 46"/>
          <p:cNvSpPr/>
          <p:nvPr/>
        </p:nvSpPr>
        <p:spPr>
          <a:xfrm>
            <a:off x="952530" y="5514289"/>
            <a:ext cx="838230" cy="294620"/>
          </a:xfrm>
          <a:prstGeom prst="roundRect">
            <a:avLst>
              <a:gd name="adj" fmla="val 21539"/>
            </a:avLst>
          </a:prstGeom>
          <a:solidFill>
            <a:srgbClr val="08121A">
              <a:alpha val="60000"/>
            </a:srgbClr>
          </a:solidFill>
          <a:ln w="12700">
            <a:solidFill>
              <a:srgbClr val="253945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1066830" y="5558729"/>
            <a:ext cx="673090" cy="231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轮速闭环</a:t>
            </a:r>
            <a:endParaRPr lang="en-US" sz="1200" dirty="0"/>
          </a:p>
        </p:txBody>
      </p:sp>
      <p:sp>
        <p:nvSpPr>
          <p:cNvPr id="53" name="Shape 48"/>
          <p:cNvSpPr/>
          <p:nvPr/>
        </p:nvSpPr>
        <p:spPr>
          <a:xfrm>
            <a:off x="1866930" y="5514289"/>
            <a:ext cx="1370137" cy="294620"/>
          </a:xfrm>
          <a:prstGeom prst="roundRect">
            <a:avLst>
              <a:gd name="adj" fmla="val 21539"/>
            </a:avLst>
          </a:prstGeom>
          <a:solidFill>
            <a:srgbClr val="08121A">
              <a:alpha val="60000"/>
            </a:srgbClr>
          </a:solidFill>
          <a:ln w="12700">
            <a:solidFill>
              <a:srgbClr val="253945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1981230" y="5558729"/>
            <a:ext cx="1250716" cy="231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BMI088 · 编码器</a:t>
            </a:r>
            <a:endParaRPr lang="en-US" sz="1200" dirty="0"/>
          </a:p>
        </p:txBody>
      </p:sp>
      <p:sp>
        <p:nvSpPr>
          <p:cNvPr id="55" name="Shape 50"/>
          <p:cNvSpPr/>
          <p:nvPr/>
        </p:nvSpPr>
        <p:spPr>
          <a:xfrm>
            <a:off x="4337091" y="4660880"/>
            <a:ext cx="3397270" cy="1447770"/>
          </a:xfrm>
          <a:prstGeom prst="roundRect">
            <a:avLst>
              <a:gd name="adj" fmla="val 6139"/>
            </a:avLst>
          </a:prstGeom>
          <a:solidFill>
            <a:srgbClr val="10232D">
              <a:alpha val="55000"/>
            </a:srgbClr>
          </a:solidFill>
          <a:ln w="12700">
            <a:solidFill>
              <a:srgbClr val="253945"/>
            </a:solidFill>
            <a:prstDash val="solid"/>
          </a:ln>
        </p:spPr>
      </p:sp>
      <p:sp>
        <p:nvSpPr>
          <p:cNvPr id="56" name="Text 51"/>
          <p:cNvSpPr/>
          <p:nvPr/>
        </p:nvSpPr>
        <p:spPr>
          <a:xfrm>
            <a:off x="4502140" y="4775180"/>
            <a:ext cx="1397020" cy="27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安全约束与通信</a:t>
            </a:r>
            <a:endParaRPr lang="en-US" sz="1500" dirty="0"/>
          </a:p>
        </p:txBody>
      </p:sp>
      <p:sp>
        <p:nvSpPr>
          <p:cNvPr id="57" name="Shape 52"/>
          <p:cNvSpPr/>
          <p:nvPr/>
        </p:nvSpPr>
        <p:spPr>
          <a:xfrm>
            <a:off x="4502140" y="5143500"/>
            <a:ext cx="1701607" cy="294620"/>
          </a:xfrm>
          <a:prstGeom prst="roundRect">
            <a:avLst>
              <a:gd name="adj" fmla="val 21539"/>
            </a:avLst>
          </a:prstGeom>
          <a:solidFill>
            <a:srgbClr val="08121A">
              <a:alpha val="60000"/>
            </a:srgbClr>
          </a:solidFill>
          <a:ln w="12700">
            <a:solidFill>
              <a:srgbClr val="253945"/>
            </a:solidFill>
            <a:prstDash val="solid"/>
          </a:ln>
        </p:spPr>
      </p:sp>
      <p:sp>
        <p:nvSpPr>
          <p:cNvPr id="58" name="Text 53"/>
          <p:cNvSpPr/>
          <p:nvPr/>
        </p:nvSpPr>
        <p:spPr>
          <a:xfrm>
            <a:off x="4616440" y="5187940"/>
            <a:ext cx="1719346" cy="231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限幅 · 变化率 · 看门狗</a:t>
            </a:r>
            <a:endParaRPr lang="en-US" sz="1200" dirty="0"/>
          </a:p>
        </p:txBody>
      </p:sp>
      <p:sp>
        <p:nvSpPr>
          <p:cNvPr id="59" name="Shape 54"/>
          <p:cNvSpPr/>
          <p:nvPr/>
        </p:nvSpPr>
        <p:spPr>
          <a:xfrm>
            <a:off x="6279916" y="5143500"/>
            <a:ext cx="838230" cy="294620"/>
          </a:xfrm>
          <a:prstGeom prst="roundRect">
            <a:avLst>
              <a:gd name="adj" fmla="val 21539"/>
            </a:avLst>
          </a:prstGeom>
          <a:solidFill>
            <a:srgbClr val="08121A">
              <a:alpha val="60000"/>
            </a:srgbClr>
          </a:solidFill>
          <a:ln w="12700">
            <a:solidFill>
              <a:srgbClr val="253945"/>
            </a:solidFill>
            <a:prstDash val="solid"/>
          </a:ln>
        </p:spPr>
      </p:sp>
      <p:sp>
        <p:nvSpPr>
          <p:cNvPr id="60" name="Text 55"/>
          <p:cNvSpPr/>
          <p:nvPr/>
        </p:nvSpPr>
        <p:spPr>
          <a:xfrm>
            <a:off x="6394216" y="5187940"/>
            <a:ext cx="673090" cy="231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命令租约</a:t>
            </a:r>
            <a:endParaRPr lang="en-US" sz="1200" dirty="0"/>
          </a:p>
        </p:txBody>
      </p:sp>
      <p:sp>
        <p:nvSpPr>
          <p:cNvPr id="61" name="Shape 56"/>
          <p:cNvSpPr/>
          <p:nvPr/>
        </p:nvSpPr>
        <p:spPr>
          <a:xfrm>
            <a:off x="4502140" y="5514289"/>
            <a:ext cx="838230" cy="294620"/>
          </a:xfrm>
          <a:prstGeom prst="roundRect">
            <a:avLst>
              <a:gd name="adj" fmla="val 21539"/>
            </a:avLst>
          </a:prstGeom>
          <a:solidFill>
            <a:srgbClr val="08121A">
              <a:alpha val="60000"/>
            </a:srgbClr>
          </a:solidFill>
          <a:ln w="12700">
            <a:solidFill>
              <a:srgbClr val="253945"/>
            </a:solidFill>
            <a:prstDash val="solid"/>
          </a:ln>
        </p:spPr>
      </p:sp>
      <p:sp>
        <p:nvSpPr>
          <p:cNvPr id="62" name="Text 57"/>
          <p:cNvSpPr/>
          <p:nvPr/>
        </p:nvSpPr>
        <p:spPr>
          <a:xfrm>
            <a:off x="4616440" y="5558729"/>
            <a:ext cx="673090" cy="231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红外接管</a:t>
            </a:r>
            <a:endParaRPr lang="en-US" sz="1200" dirty="0"/>
          </a:p>
        </p:txBody>
      </p:sp>
      <p:sp>
        <p:nvSpPr>
          <p:cNvPr id="63" name="Shape 58"/>
          <p:cNvSpPr/>
          <p:nvPr/>
        </p:nvSpPr>
        <p:spPr>
          <a:xfrm>
            <a:off x="5416540" y="5514289"/>
            <a:ext cx="1958645" cy="294620"/>
          </a:xfrm>
          <a:prstGeom prst="roundRect">
            <a:avLst>
              <a:gd name="adj" fmla="val 21539"/>
            </a:avLst>
          </a:prstGeom>
          <a:solidFill>
            <a:srgbClr val="08121A">
              <a:alpha val="60000"/>
            </a:srgbClr>
          </a:solidFill>
          <a:ln w="12700">
            <a:solidFill>
              <a:srgbClr val="253945"/>
            </a:solidFill>
            <a:prstDash val="solid"/>
          </a:ln>
        </p:spPr>
      </p:sp>
      <p:sp>
        <p:nvSpPr>
          <p:cNvPr id="64" name="Text 59"/>
          <p:cNvSpPr/>
          <p:nvPr/>
        </p:nvSpPr>
        <p:spPr>
          <a:xfrm>
            <a:off x="5530840" y="5558729"/>
            <a:ext cx="1844985" cy="231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双串口 921600 / 230400</a:t>
            </a:r>
            <a:endParaRPr lang="en-US" sz="1200" dirty="0"/>
          </a:p>
        </p:txBody>
      </p:sp>
      <p:sp>
        <p:nvSpPr>
          <p:cNvPr id="65" name="Shape 60"/>
          <p:cNvSpPr/>
          <p:nvPr/>
        </p:nvSpPr>
        <p:spPr>
          <a:xfrm>
            <a:off x="8318480" y="2006559"/>
            <a:ext cx="3263859" cy="12710"/>
          </a:xfrm>
          <a:prstGeom prst="rect">
            <a:avLst/>
          </a:prstGeom>
          <a:solidFill>
            <a:srgbClr val="253945"/>
          </a:solidFill>
          <a:ln/>
        </p:spPr>
      </p:sp>
      <p:sp>
        <p:nvSpPr>
          <p:cNvPr id="66" name="Text 61"/>
          <p:cNvSpPr/>
          <p:nvPr/>
        </p:nvSpPr>
        <p:spPr>
          <a:xfrm>
            <a:off x="8318480" y="2120859"/>
            <a:ext cx="1567282" cy="556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dirty="0">
                <a:solidFill>
                  <a:srgbClr val="7FE7E1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280</a:t>
            </a:r>
            <a:r>
              <a:rPr lang="en-US" sz="2200" dirty="0">
                <a:solidFill>
                  <a:srgbClr val="91A7B3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 / 340</a:t>
            </a:r>
            <a:endParaRPr lang="en-US" sz="3800" dirty="0"/>
          </a:p>
        </p:txBody>
      </p:sp>
      <p:sp>
        <p:nvSpPr>
          <p:cNvPr id="67" name="Text 62"/>
          <p:cNvSpPr/>
          <p:nvPr/>
        </p:nvSpPr>
        <p:spPr>
          <a:xfrm>
            <a:off x="8318480" y="2692359"/>
            <a:ext cx="2983962" cy="23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BSRAM：地图、定位场、固件与策略共用</a:t>
            </a:r>
            <a:endParaRPr lang="en-US" sz="1200" dirty="0"/>
          </a:p>
        </p:txBody>
      </p:sp>
      <p:sp>
        <p:nvSpPr>
          <p:cNvPr id="68" name="Shape 63"/>
          <p:cNvSpPr/>
          <p:nvPr/>
        </p:nvSpPr>
        <p:spPr>
          <a:xfrm>
            <a:off x="8318480" y="3073390"/>
            <a:ext cx="3263859" cy="12710"/>
          </a:xfrm>
          <a:prstGeom prst="rect">
            <a:avLst/>
          </a:prstGeom>
          <a:solidFill>
            <a:srgbClr val="253945"/>
          </a:solidFill>
          <a:ln/>
        </p:spPr>
      </p:sp>
      <p:sp>
        <p:nvSpPr>
          <p:cNvPr id="69" name="Text 64"/>
          <p:cNvSpPr/>
          <p:nvPr/>
        </p:nvSpPr>
        <p:spPr>
          <a:xfrm>
            <a:off x="8318480" y="3187690"/>
            <a:ext cx="329824" cy="556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dirty="0">
                <a:solidFill>
                  <a:srgbClr val="7FE7E1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0</a:t>
            </a:r>
            <a:endParaRPr lang="en-US" sz="3800" dirty="0"/>
          </a:p>
        </p:txBody>
      </p:sp>
      <p:sp>
        <p:nvSpPr>
          <p:cNvPr id="70" name="Text 65"/>
          <p:cNvSpPr/>
          <p:nvPr/>
        </p:nvSpPr>
        <p:spPr>
          <a:xfrm>
            <a:off x="8318480" y="3759190"/>
            <a:ext cx="2536363" cy="23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布局布线后 setup / hold 时序违例</a:t>
            </a:r>
            <a:endParaRPr lang="en-US" sz="1200" dirty="0"/>
          </a:p>
        </p:txBody>
      </p:sp>
      <p:sp>
        <p:nvSpPr>
          <p:cNvPr id="71" name="Shape 66"/>
          <p:cNvSpPr/>
          <p:nvPr/>
        </p:nvSpPr>
        <p:spPr>
          <a:xfrm>
            <a:off x="8318480" y="4140220"/>
            <a:ext cx="3263859" cy="12710"/>
          </a:xfrm>
          <a:prstGeom prst="rect">
            <a:avLst/>
          </a:prstGeom>
          <a:solidFill>
            <a:srgbClr val="253945"/>
          </a:solidFill>
          <a:ln/>
        </p:spPr>
      </p:sp>
      <p:sp>
        <p:nvSpPr>
          <p:cNvPr id="72" name="Text 67"/>
          <p:cNvSpPr/>
          <p:nvPr/>
        </p:nvSpPr>
        <p:spPr>
          <a:xfrm>
            <a:off x="8318480" y="4254520"/>
            <a:ext cx="1873240" cy="556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dirty="0">
                <a:solidFill>
                  <a:srgbClr val="7FE7E1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50</a:t>
            </a:r>
            <a:r>
              <a:rPr lang="en-US" sz="2200" dirty="0">
                <a:solidFill>
                  <a:srgbClr val="91A7B3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 / 100 MHz</a:t>
            </a:r>
            <a:endParaRPr lang="en-US" sz="3800" dirty="0"/>
          </a:p>
        </p:txBody>
      </p:sp>
      <p:sp>
        <p:nvSpPr>
          <p:cNvPr id="73" name="Text 68"/>
          <p:cNvSpPr/>
          <p:nvPr/>
        </p:nvSpPr>
        <p:spPr>
          <a:xfrm>
            <a:off x="8318480" y="4826020"/>
            <a:ext cx="1681947" cy="23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主逻辑 / 雷达接收时钟</a:t>
            </a:r>
            <a:endParaRPr lang="en-US" sz="1200" dirty="0"/>
          </a:p>
        </p:txBody>
      </p:sp>
      <p:sp>
        <p:nvSpPr>
          <p:cNvPr id="74" name="Shape 69"/>
          <p:cNvSpPr/>
          <p:nvPr/>
        </p:nvSpPr>
        <p:spPr>
          <a:xfrm>
            <a:off x="8318480" y="5206959"/>
            <a:ext cx="3263859" cy="12710"/>
          </a:xfrm>
          <a:prstGeom prst="rect">
            <a:avLst/>
          </a:prstGeom>
          <a:solidFill>
            <a:srgbClr val="253945"/>
          </a:solidFill>
          <a:ln/>
        </p:spPr>
      </p:sp>
      <p:sp>
        <p:nvSpPr>
          <p:cNvPr id="75" name="Text 70"/>
          <p:cNvSpPr/>
          <p:nvPr/>
        </p:nvSpPr>
        <p:spPr>
          <a:xfrm>
            <a:off x="8318480" y="5321259"/>
            <a:ext cx="1139068" cy="556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dirty="0">
                <a:solidFill>
                  <a:srgbClr val="7FE7E1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125</a:t>
            </a:r>
            <a:r>
              <a:rPr lang="en-US" sz="2200" dirty="0">
                <a:solidFill>
                  <a:srgbClr val="91A7B3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 Hz</a:t>
            </a:r>
            <a:endParaRPr lang="en-US" sz="3800" dirty="0"/>
          </a:p>
        </p:txBody>
      </p:sp>
      <p:sp>
        <p:nvSpPr>
          <p:cNvPr id="76" name="Text 71"/>
          <p:cNvSpPr/>
          <p:nvPr/>
        </p:nvSpPr>
        <p:spPr>
          <a:xfrm>
            <a:off x="8318480" y="5892759"/>
            <a:ext cx="1901952" cy="23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策略推理，与导航同片运行</a:t>
            </a:r>
            <a:endParaRPr lang="en-US" sz="1200" dirty="0"/>
          </a:p>
        </p:txBody>
      </p:sp>
      <p:sp>
        <p:nvSpPr>
          <p:cNvPr id="77" name="Text 72"/>
          <p:cNvSpPr/>
          <p:nvPr/>
        </p:nvSpPr>
        <p:spPr>
          <a:xfrm>
            <a:off x="609630" y="6438930"/>
            <a:ext cx="4003152" cy="2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数据来源：PNR63 联合工程实现报告（2026-10-28）</a:t>
            </a:r>
            <a:endParaRPr lang="en-US" sz="1200" dirty="0"/>
          </a:p>
        </p:txBody>
      </p:sp>
      <p:sp>
        <p:nvSpPr>
          <p:cNvPr id="78" name="Text 73"/>
          <p:cNvSpPr/>
          <p:nvPr/>
        </p:nvSpPr>
        <p:spPr>
          <a:xfrm>
            <a:off x="11038820" y="6438930"/>
            <a:ext cx="543611" cy="2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04 / 08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Desktop\SOC FPGA\Yuntuo\presentation\assets\fpga-competi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10" y="215890"/>
            <a:ext cx="1455999" cy="508041"/>
          </a:xfrm>
          <a:prstGeom prst="rect">
            <a:avLst/>
          </a:prstGeom>
        </p:spPr>
      </p:pic>
      <p:pic>
        <p:nvPicPr>
          <p:cNvPr id="3" name="Image 1" descr="D:\Desktop\SOC FPGA\Yuntuo\presentation\assets\chy-logo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1885" y="279441"/>
            <a:ext cx="669707" cy="35561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9761311" y="317480"/>
            <a:ext cx="12710" cy="279441"/>
          </a:xfrm>
          <a:prstGeom prst="rect">
            <a:avLst/>
          </a:prstGeom>
          <a:solidFill>
            <a:srgbClr val="253945"/>
          </a:solidFill>
          <a:ln/>
        </p:spPr>
      </p:sp>
      <p:pic>
        <p:nvPicPr>
          <p:cNvPr id="5" name="Image 2" descr="D:\Desktop\SOC FPGA\Yuntuo\presentation\assets\yuntuo-m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3742" y="279441"/>
            <a:ext cx="355610" cy="35561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0409072" y="352410"/>
            <a:ext cx="1236817" cy="234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500" b="1" spc="25" kern="0" dirty="0">
                <a:solidFill>
                  <a:srgbClr val="ECF3F4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YunTuo </a:t>
            </a:r>
            <a:r>
              <a:rPr lang="en-US" sz="1500" spc="25" kern="0" dirty="0">
                <a:solidFill>
                  <a:srgbClr val="91A7B3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Robot</a:t>
            </a:r>
            <a:endParaRPr lang="en-US" sz="1500" dirty="0"/>
          </a:p>
        </p:txBody>
      </p:sp>
      <p:sp>
        <p:nvSpPr>
          <p:cNvPr id="7" name="Text 2"/>
          <p:cNvSpPr/>
          <p:nvPr/>
        </p:nvSpPr>
        <p:spPr>
          <a:xfrm>
            <a:off x="609630" y="952530"/>
            <a:ext cx="1441094" cy="223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spc="150" kern="0" dirty="0">
                <a:solidFill>
                  <a:srgbClr val="7FE7E1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04 感知与导航</a:t>
            </a:r>
            <a:endParaRPr lang="en-US" sz="1300" dirty="0"/>
          </a:p>
        </p:txBody>
      </p:sp>
      <p:sp>
        <p:nvSpPr>
          <p:cNvPr id="8" name="Text 3"/>
          <p:cNvSpPr/>
          <p:nvPr/>
        </p:nvSpPr>
        <p:spPr>
          <a:xfrm>
            <a:off x="609630" y="1181130"/>
            <a:ext cx="7942113" cy="565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b="1" spc="50" kern="0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雷达每秒 10 帧，硬件实时建图与规划</a:t>
            </a:r>
            <a:endParaRPr lang="en-US" sz="3400" dirty="0"/>
          </a:p>
        </p:txBody>
      </p:sp>
      <p:sp>
        <p:nvSpPr>
          <p:cNvPr id="9" name="Shape 4"/>
          <p:cNvSpPr/>
          <p:nvPr/>
        </p:nvSpPr>
        <p:spPr>
          <a:xfrm>
            <a:off x="609630" y="2006559"/>
            <a:ext cx="1676370" cy="952530"/>
          </a:xfrm>
          <a:prstGeom prst="roundRect">
            <a:avLst>
              <a:gd name="adj" fmla="val 9331"/>
            </a:avLst>
          </a:prstGeom>
          <a:solidFill>
            <a:srgbClr val="10232D">
              <a:alpha val="55000"/>
            </a:srgbClr>
          </a:solidFill>
          <a:ln w="12700">
            <a:solidFill>
              <a:srgbClr val="253945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761970" y="2143171"/>
            <a:ext cx="1435059" cy="2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7FE7E1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761970" y="2351380"/>
            <a:ext cx="1435059" cy="27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深度帧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761970" y="2624419"/>
            <a:ext cx="1435059" cy="223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XT-M60 · 10 fps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2286000" y="2486071"/>
            <a:ext cx="177759" cy="0"/>
          </a:xfrm>
          <a:prstGeom prst="line">
            <a:avLst/>
          </a:prstGeom>
          <a:noFill/>
          <a:ln w="19050">
            <a:solidFill>
              <a:srgbClr val="7FE7E1"/>
            </a:solidFill>
            <a:prstDash val="solid"/>
            <a:tailEnd type="triangle" w="lg" len="lg"/>
          </a:ln>
        </p:spPr>
      </p:sp>
      <p:sp>
        <p:nvSpPr>
          <p:cNvPr id="14" name="Shape 9"/>
          <p:cNvSpPr/>
          <p:nvPr/>
        </p:nvSpPr>
        <p:spPr>
          <a:xfrm>
            <a:off x="2463759" y="2006559"/>
            <a:ext cx="1676370" cy="952530"/>
          </a:xfrm>
          <a:prstGeom prst="roundRect">
            <a:avLst>
              <a:gd name="adj" fmla="val 9331"/>
            </a:avLst>
          </a:prstGeom>
          <a:solidFill>
            <a:srgbClr val="10232D">
              <a:alpha val="55000"/>
            </a:srgbClr>
          </a:solidFill>
          <a:ln w="12700">
            <a:solidFill>
              <a:srgbClr val="253945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616190" y="2143171"/>
            <a:ext cx="1435059" cy="2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7FE7E1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2616190" y="2351380"/>
            <a:ext cx="1435059" cy="27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点云投影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2616190" y="2624419"/>
            <a:ext cx="1526499" cy="223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查找表 · 外参变换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140220" y="2486071"/>
            <a:ext cx="177759" cy="0"/>
          </a:xfrm>
          <a:prstGeom prst="line">
            <a:avLst/>
          </a:prstGeom>
          <a:noFill/>
          <a:ln w="19050">
            <a:solidFill>
              <a:srgbClr val="7FE7E1"/>
            </a:solidFill>
            <a:prstDash val="solid"/>
            <a:tailEnd type="triangle" w="lg" len="lg"/>
          </a:ln>
        </p:spPr>
      </p:sp>
      <p:sp>
        <p:nvSpPr>
          <p:cNvPr id="19" name="Shape 14"/>
          <p:cNvSpPr/>
          <p:nvPr/>
        </p:nvSpPr>
        <p:spPr>
          <a:xfrm>
            <a:off x="4317980" y="2006559"/>
            <a:ext cx="1676370" cy="952530"/>
          </a:xfrm>
          <a:prstGeom prst="roundRect">
            <a:avLst>
              <a:gd name="adj" fmla="val 9331"/>
            </a:avLst>
          </a:prstGeom>
          <a:solidFill>
            <a:srgbClr val="10232D">
              <a:alpha val="55000"/>
            </a:srgbClr>
          </a:solidFill>
          <a:ln w="12700">
            <a:solidFill>
              <a:srgbClr val="253945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470410" y="2143171"/>
            <a:ext cx="1435059" cy="2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7FE7E1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470410" y="2351380"/>
            <a:ext cx="1435059" cy="27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高程建图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4470410" y="2624419"/>
            <a:ext cx="1435059" cy="223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128 × 128 · 5 cm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994441" y="2486071"/>
            <a:ext cx="177759" cy="0"/>
          </a:xfrm>
          <a:prstGeom prst="line">
            <a:avLst/>
          </a:prstGeom>
          <a:noFill/>
          <a:ln w="19050">
            <a:solidFill>
              <a:srgbClr val="7FE7E1"/>
            </a:solidFill>
            <a:prstDash val="solid"/>
            <a:tailEnd type="triangle" w="lg" len="lg"/>
          </a:ln>
        </p:spPr>
      </p:sp>
      <p:sp>
        <p:nvSpPr>
          <p:cNvPr id="24" name="Shape 19"/>
          <p:cNvSpPr/>
          <p:nvPr/>
        </p:nvSpPr>
        <p:spPr>
          <a:xfrm>
            <a:off x="6172200" y="2006559"/>
            <a:ext cx="1676370" cy="952530"/>
          </a:xfrm>
          <a:prstGeom prst="roundRect">
            <a:avLst>
              <a:gd name="adj" fmla="val 9331"/>
            </a:avLst>
          </a:prstGeom>
          <a:solidFill>
            <a:srgbClr val="10232D">
              <a:alpha val="55000"/>
            </a:srgbClr>
          </a:solidFill>
          <a:ln w="12700">
            <a:solidFill>
              <a:srgbClr val="253945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324630" y="2143171"/>
            <a:ext cx="1435059" cy="2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7FE7E1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324630" y="2351380"/>
            <a:ext cx="1435059" cy="27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地形代价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6324630" y="2624419"/>
            <a:ext cx="1617939" cy="223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坡度 · 高差 · 落差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7848570" y="2486071"/>
            <a:ext cx="177759" cy="0"/>
          </a:xfrm>
          <a:prstGeom prst="line">
            <a:avLst/>
          </a:prstGeom>
          <a:noFill/>
          <a:ln w="19050">
            <a:solidFill>
              <a:srgbClr val="7FE7E1"/>
            </a:solidFill>
            <a:prstDash val="solid"/>
            <a:tailEnd type="triangle" w="lg" len="lg"/>
          </a:ln>
        </p:spPr>
      </p:sp>
      <p:sp>
        <p:nvSpPr>
          <p:cNvPr id="29" name="Shape 24"/>
          <p:cNvSpPr/>
          <p:nvPr/>
        </p:nvSpPr>
        <p:spPr>
          <a:xfrm>
            <a:off x="8026420" y="2006559"/>
            <a:ext cx="1676370" cy="952530"/>
          </a:xfrm>
          <a:prstGeom prst="roundRect">
            <a:avLst>
              <a:gd name="adj" fmla="val 9331"/>
            </a:avLst>
          </a:prstGeom>
          <a:solidFill>
            <a:srgbClr val="10232D">
              <a:alpha val="55000"/>
            </a:srgbClr>
          </a:solidFill>
          <a:ln w="12700">
            <a:solidFill>
              <a:srgbClr val="253945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8178759" y="2143171"/>
            <a:ext cx="1435059" cy="2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7FE7E1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05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8178759" y="2351380"/>
            <a:ext cx="1435059" cy="27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结构定位</a:t>
            </a:r>
            <a:endParaRPr lang="en-US" sz="1500" dirty="0"/>
          </a:p>
        </p:txBody>
      </p:sp>
      <p:sp>
        <p:nvSpPr>
          <p:cNvPr id="32" name="Text 27"/>
          <p:cNvSpPr/>
          <p:nvPr/>
        </p:nvSpPr>
        <p:spPr>
          <a:xfrm>
            <a:off x="8178759" y="2624419"/>
            <a:ext cx="1526499" cy="223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SLF · 里程计 · IMU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9702790" y="2486071"/>
            <a:ext cx="177759" cy="0"/>
          </a:xfrm>
          <a:prstGeom prst="line">
            <a:avLst/>
          </a:prstGeom>
          <a:noFill/>
          <a:ln w="19050">
            <a:solidFill>
              <a:srgbClr val="7FE7E1"/>
            </a:solidFill>
            <a:prstDash val="solid"/>
            <a:tailEnd type="triangle" w="lg" len="lg"/>
          </a:ln>
        </p:spPr>
      </p:sp>
      <p:sp>
        <p:nvSpPr>
          <p:cNvPr id="34" name="Shape 29"/>
          <p:cNvSpPr/>
          <p:nvPr/>
        </p:nvSpPr>
        <p:spPr>
          <a:xfrm>
            <a:off x="9880641" y="2006559"/>
            <a:ext cx="1701790" cy="952530"/>
          </a:xfrm>
          <a:prstGeom prst="roundRect">
            <a:avLst>
              <a:gd name="adj" fmla="val 9331"/>
            </a:avLst>
          </a:prstGeom>
          <a:solidFill>
            <a:srgbClr val="10232D">
              <a:alpha val="55000"/>
            </a:srgbClr>
          </a:solidFill>
          <a:ln w="12700">
            <a:solidFill>
              <a:srgbClr val="253945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10032980" y="2143171"/>
            <a:ext cx="1460480" cy="2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7FE7E1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06</a:t>
            </a:r>
            <a:endParaRPr lang="en-US" sz="1200" dirty="0"/>
          </a:p>
        </p:txBody>
      </p:sp>
      <p:sp>
        <p:nvSpPr>
          <p:cNvPr id="36" name="Text 31"/>
          <p:cNvSpPr/>
          <p:nvPr/>
        </p:nvSpPr>
        <p:spPr>
          <a:xfrm>
            <a:off x="10032980" y="2351380"/>
            <a:ext cx="1460480" cy="27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路径规划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10032980" y="2624419"/>
            <a:ext cx="1506200" cy="223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A* + 轨迹评估</a:t>
            </a:r>
            <a:endParaRPr lang="en-US" sz="1200" dirty="0"/>
          </a:p>
        </p:txBody>
      </p:sp>
      <p:sp>
        <p:nvSpPr>
          <p:cNvPr id="38" name="Shape 33"/>
          <p:cNvSpPr/>
          <p:nvPr/>
        </p:nvSpPr>
        <p:spPr>
          <a:xfrm>
            <a:off x="609630" y="3086100"/>
            <a:ext cx="7239030" cy="19020"/>
          </a:xfrm>
          <a:prstGeom prst="rect">
            <a:avLst/>
          </a:prstGeom>
          <a:solidFill>
            <a:srgbClr val="7FE7E1"/>
          </a:solidFill>
          <a:ln/>
        </p:spPr>
      </p:sp>
      <p:sp>
        <p:nvSpPr>
          <p:cNvPr id="39" name="Text 34"/>
          <p:cNvSpPr/>
          <p:nvPr/>
        </p:nvSpPr>
        <p:spPr>
          <a:xfrm>
            <a:off x="609630" y="3162270"/>
            <a:ext cx="2265883" cy="23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E7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RTL 硬件流水线：每帧并行处理</a:t>
            </a:r>
            <a:endParaRPr lang="en-US" sz="1200" dirty="0"/>
          </a:p>
        </p:txBody>
      </p:sp>
      <p:sp>
        <p:nvSpPr>
          <p:cNvPr id="40" name="Shape 35"/>
          <p:cNvSpPr/>
          <p:nvPr/>
        </p:nvSpPr>
        <p:spPr>
          <a:xfrm>
            <a:off x="8026420" y="3086100"/>
            <a:ext cx="3556010" cy="19020"/>
          </a:xfrm>
          <a:prstGeom prst="rect">
            <a:avLst/>
          </a:prstGeom>
          <a:solidFill>
            <a:srgbClr val="91A7B3"/>
          </a:solidFill>
          <a:ln/>
        </p:spPr>
      </p:sp>
      <p:sp>
        <p:nvSpPr>
          <p:cNvPr id="41" name="Text 36"/>
          <p:cNvSpPr/>
          <p:nvPr/>
        </p:nvSpPr>
        <p:spPr>
          <a:xfrm>
            <a:off x="8026420" y="3162270"/>
            <a:ext cx="2046336" cy="23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软核决策 + 硬件匹配与评估</a:t>
            </a:r>
            <a:endParaRPr lang="en-US" sz="1200" dirty="0"/>
          </a:p>
        </p:txBody>
      </p:sp>
      <p:pic>
        <p:nvPicPr>
          <p:cNvPr id="42" name="Image 3" descr="D:\Desktop\SOC FPGA\Yuntuo\presentation\assets\costmap-si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30" y="3721059"/>
            <a:ext cx="3429000" cy="2286000"/>
          </a:xfrm>
          <a:prstGeom prst="rect">
            <a:avLst/>
          </a:prstGeom>
        </p:spPr>
      </p:pic>
      <p:sp>
        <p:nvSpPr>
          <p:cNvPr id="43" name="Shape 37"/>
          <p:cNvSpPr/>
          <p:nvPr/>
        </p:nvSpPr>
        <p:spPr>
          <a:xfrm>
            <a:off x="4292559" y="3670310"/>
            <a:ext cx="190470" cy="190470"/>
          </a:xfrm>
          <a:prstGeom prst="roundRect">
            <a:avLst>
              <a:gd name="adj" fmla="val 20019"/>
            </a:avLst>
          </a:prstGeom>
          <a:solidFill>
            <a:srgbClr val="5FA5A0"/>
          </a:solidFill>
          <a:ln/>
        </p:spPr>
      </p:sp>
      <p:sp>
        <p:nvSpPr>
          <p:cNvPr id="44" name="Text 38"/>
          <p:cNvSpPr/>
          <p:nvPr/>
        </p:nvSpPr>
        <p:spPr>
          <a:xfrm>
            <a:off x="4584710" y="3657600"/>
            <a:ext cx="1356147" cy="23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可通行代价 0–200</a:t>
            </a:r>
            <a:endParaRPr lang="en-US" sz="1200" dirty="0"/>
          </a:p>
        </p:txBody>
      </p:sp>
      <p:sp>
        <p:nvSpPr>
          <p:cNvPr id="45" name="Shape 39"/>
          <p:cNvSpPr/>
          <p:nvPr/>
        </p:nvSpPr>
        <p:spPr>
          <a:xfrm>
            <a:off x="4292559" y="4000500"/>
            <a:ext cx="190470" cy="190470"/>
          </a:xfrm>
          <a:prstGeom prst="roundRect">
            <a:avLst>
              <a:gd name="adj" fmla="val 20019"/>
            </a:avLst>
          </a:prstGeom>
          <a:solidFill>
            <a:srgbClr val="7A4E38"/>
          </a:solidFill>
          <a:ln/>
        </p:spPr>
      </p:sp>
      <p:sp>
        <p:nvSpPr>
          <p:cNvPr id="46" name="Text 40"/>
          <p:cNvSpPr/>
          <p:nvPr/>
        </p:nvSpPr>
        <p:spPr>
          <a:xfrm>
            <a:off x="4584710" y="3987790"/>
            <a:ext cx="825520" cy="23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包络膨胀区</a:t>
            </a:r>
            <a:endParaRPr lang="en-US" sz="1200" dirty="0"/>
          </a:p>
        </p:txBody>
      </p:sp>
      <p:sp>
        <p:nvSpPr>
          <p:cNvPr id="47" name="Shape 41"/>
          <p:cNvSpPr/>
          <p:nvPr/>
        </p:nvSpPr>
        <p:spPr>
          <a:xfrm>
            <a:off x="4292559" y="4330690"/>
            <a:ext cx="190470" cy="190470"/>
          </a:xfrm>
          <a:prstGeom prst="roundRect">
            <a:avLst>
              <a:gd name="adj" fmla="val 20019"/>
            </a:avLst>
          </a:prstGeom>
          <a:solidFill>
            <a:srgbClr val="F5AB79"/>
          </a:solidFill>
          <a:ln/>
        </p:spPr>
      </p:sp>
      <p:sp>
        <p:nvSpPr>
          <p:cNvPr id="48" name="Text 42"/>
          <p:cNvSpPr/>
          <p:nvPr/>
        </p:nvSpPr>
        <p:spPr>
          <a:xfrm>
            <a:off x="4584710" y="4317980"/>
            <a:ext cx="673090" cy="23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不可通行</a:t>
            </a:r>
            <a:endParaRPr lang="en-US" sz="1200" dirty="0"/>
          </a:p>
        </p:txBody>
      </p:sp>
      <p:sp>
        <p:nvSpPr>
          <p:cNvPr id="49" name="Shape 43"/>
          <p:cNvSpPr/>
          <p:nvPr/>
        </p:nvSpPr>
        <p:spPr>
          <a:xfrm>
            <a:off x="4292559" y="4660880"/>
            <a:ext cx="190470" cy="190470"/>
          </a:xfrm>
          <a:prstGeom prst="roundRect">
            <a:avLst>
              <a:gd name="adj" fmla="val 20019"/>
            </a:avLst>
          </a:prstGeom>
          <a:solidFill>
            <a:srgbClr val="0C1B25"/>
          </a:solidFill>
          <a:ln w="12700">
            <a:solidFill>
              <a:srgbClr val="253945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4584710" y="4648170"/>
            <a:ext cx="520659" cy="23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未观测</a:t>
            </a:r>
            <a:endParaRPr lang="en-US" sz="1200" dirty="0"/>
          </a:p>
        </p:txBody>
      </p:sp>
      <p:sp>
        <p:nvSpPr>
          <p:cNvPr id="51" name="Text 45"/>
          <p:cNvSpPr/>
          <p:nvPr/>
        </p:nvSpPr>
        <p:spPr>
          <a:xfrm>
            <a:off x="4292559" y="5118080"/>
            <a:ext cx="1828800" cy="688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导航闭环仿真输出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m 场地局部代价图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网格间距 1 m</a:t>
            </a:r>
            <a:endParaRPr lang="en-US" sz="1200" dirty="0"/>
          </a:p>
        </p:txBody>
      </p:sp>
      <p:sp>
        <p:nvSpPr>
          <p:cNvPr id="52" name="Shape 46"/>
          <p:cNvSpPr/>
          <p:nvPr/>
        </p:nvSpPr>
        <p:spPr>
          <a:xfrm>
            <a:off x="6223041" y="3594141"/>
            <a:ext cx="5359390" cy="12710"/>
          </a:xfrm>
          <a:prstGeom prst="rect">
            <a:avLst/>
          </a:prstGeom>
          <a:solidFill>
            <a:srgbClr val="253945"/>
          </a:solidFill>
          <a:ln/>
        </p:spPr>
      </p:sp>
      <p:sp>
        <p:nvSpPr>
          <p:cNvPr id="53" name="Text 47"/>
          <p:cNvSpPr/>
          <p:nvPr/>
        </p:nvSpPr>
        <p:spPr>
          <a:xfrm>
            <a:off x="6223041" y="3695730"/>
            <a:ext cx="1415491" cy="472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dirty="0">
                <a:solidFill>
                  <a:srgbClr val="7FE7E1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128×128</a:t>
            </a:r>
            <a:endParaRPr lang="en-US" sz="3200" dirty="0"/>
          </a:p>
        </p:txBody>
      </p:sp>
      <p:sp>
        <p:nvSpPr>
          <p:cNvPr id="54" name="Text 48"/>
          <p:cNvSpPr/>
          <p:nvPr/>
        </p:nvSpPr>
        <p:spPr>
          <a:xfrm>
            <a:off x="6223041" y="4190970"/>
            <a:ext cx="977859" cy="23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局部高程栅格</a:t>
            </a:r>
            <a:endParaRPr lang="en-US" sz="1200" dirty="0"/>
          </a:p>
        </p:txBody>
      </p:sp>
      <p:sp>
        <p:nvSpPr>
          <p:cNvPr id="55" name="Text 49"/>
          <p:cNvSpPr/>
          <p:nvPr/>
        </p:nvSpPr>
        <p:spPr>
          <a:xfrm>
            <a:off x="8191470" y="3695730"/>
            <a:ext cx="962040" cy="472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dirty="0">
                <a:solidFill>
                  <a:srgbClr val="7FE7E1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50</a:t>
            </a:r>
            <a:r>
              <a:rPr lang="en-US" sz="1800" dirty="0">
                <a:solidFill>
                  <a:srgbClr val="7FE7E1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 mm</a:t>
            </a:r>
            <a:endParaRPr lang="en-US" sz="3200" dirty="0"/>
          </a:p>
        </p:txBody>
      </p:sp>
      <p:sp>
        <p:nvSpPr>
          <p:cNvPr id="56" name="Text 50"/>
          <p:cNvSpPr/>
          <p:nvPr/>
        </p:nvSpPr>
        <p:spPr>
          <a:xfrm>
            <a:off x="8191470" y="4190970"/>
            <a:ext cx="825520" cy="23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栅格分辨率</a:t>
            </a:r>
            <a:endParaRPr lang="en-US" sz="1200" dirty="0"/>
          </a:p>
        </p:txBody>
      </p:sp>
      <p:sp>
        <p:nvSpPr>
          <p:cNvPr id="57" name="Text 51"/>
          <p:cNvSpPr/>
          <p:nvPr/>
        </p:nvSpPr>
        <p:spPr>
          <a:xfrm>
            <a:off x="9905970" y="3695730"/>
            <a:ext cx="852495" cy="472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dirty="0">
                <a:solidFill>
                  <a:srgbClr val="7FE7E1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6.4</a:t>
            </a:r>
            <a:r>
              <a:rPr lang="en-US" sz="1800" dirty="0">
                <a:solidFill>
                  <a:srgbClr val="7FE7E1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 m</a:t>
            </a:r>
            <a:endParaRPr lang="en-US" sz="3200" dirty="0"/>
          </a:p>
        </p:txBody>
      </p:sp>
      <p:sp>
        <p:nvSpPr>
          <p:cNvPr id="58" name="Text 52"/>
          <p:cNvSpPr/>
          <p:nvPr/>
        </p:nvSpPr>
        <p:spPr>
          <a:xfrm>
            <a:off x="9905970" y="4190970"/>
            <a:ext cx="1282720" cy="23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随车滚动覆盖边长</a:t>
            </a:r>
            <a:endParaRPr lang="en-US" sz="1200" dirty="0"/>
          </a:p>
        </p:txBody>
      </p:sp>
      <p:sp>
        <p:nvSpPr>
          <p:cNvPr id="59" name="Shape 53"/>
          <p:cNvSpPr/>
          <p:nvPr/>
        </p:nvSpPr>
        <p:spPr>
          <a:xfrm>
            <a:off x="6223041" y="4610130"/>
            <a:ext cx="2603480" cy="1143000"/>
          </a:xfrm>
          <a:prstGeom prst="roundRect">
            <a:avLst>
              <a:gd name="adj" fmla="val 7776"/>
            </a:avLst>
          </a:prstGeom>
          <a:solidFill>
            <a:srgbClr val="10232D">
              <a:alpha val="55000"/>
            </a:srgbClr>
          </a:solidFill>
          <a:ln w="12700">
            <a:solidFill>
              <a:srgbClr val="253945"/>
            </a:solidFill>
            <a:prstDash val="solid"/>
          </a:ln>
        </p:spPr>
      </p:sp>
      <p:sp>
        <p:nvSpPr>
          <p:cNvPr id="60" name="Text 54"/>
          <p:cNvSpPr/>
          <p:nvPr/>
        </p:nvSpPr>
        <p:spPr>
          <a:xfrm>
            <a:off x="6400800" y="4811390"/>
            <a:ext cx="2337846" cy="27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无先验地图</a:t>
            </a:r>
            <a:endParaRPr lang="en-US" sz="1500" dirty="0"/>
          </a:p>
        </p:txBody>
      </p:sp>
      <p:sp>
        <p:nvSpPr>
          <p:cNvPr id="61" name="Text 55"/>
          <p:cNvSpPr/>
          <p:nvPr/>
        </p:nvSpPr>
        <p:spPr>
          <a:xfrm>
            <a:off x="6400800" y="5109850"/>
            <a:ext cx="2429286" cy="46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结构匹配 + 记忆栅格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边探索、边规划</a:t>
            </a:r>
            <a:endParaRPr lang="en-US" sz="1200" dirty="0"/>
          </a:p>
        </p:txBody>
      </p:sp>
      <p:sp>
        <p:nvSpPr>
          <p:cNvPr id="62" name="Shape 56"/>
          <p:cNvSpPr/>
          <p:nvPr/>
        </p:nvSpPr>
        <p:spPr>
          <a:xfrm>
            <a:off x="8978859" y="4610130"/>
            <a:ext cx="2603480" cy="1143000"/>
          </a:xfrm>
          <a:prstGeom prst="roundRect">
            <a:avLst>
              <a:gd name="adj" fmla="val 7776"/>
            </a:avLst>
          </a:prstGeom>
          <a:solidFill>
            <a:srgbClr val="10232D">
              <a:alpha val="55000"/>
            </a:srgbClr>
          </a:solidFill>
          <a:ln w="12700">
            <a:solidFill>
              <a:srgbClr val="253945"/>
            </a:solidFill>
            <a:prstDash val="solid"/>
          </a:ln>
        </p:spPr>
      </p:sp>
      <p:sp>
        <p:nvSpPr>
          <p:cNvPr id="63" name="Text 57"/>
          <p:cNvSpPr/>
          <p:nvPr/>
        </p:nvSpPr>
        <p:spPr>
          <a:xfrm>
            <a:off x="9156710" y="4811390"/>
            <a:ext cx="2337846" cy="27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先验地图</a:t>
            </a:r>
            <a:endParaRPr lang="en-US" sz="1500" dirty="0"/>
          </a:p>
        </p:txBody>
      </p:sp>
      <p:sp>
        <p:nvSpPr>
          <p:cNvPr id="64" name="Text 58"/>
          <p:cNvSpPr/>
          <p:nvPr/>
        </p:nvSpPr>
        <p:spPr>
          <a:xfrm>
            <a:off x="9156710" y="5109850"/>
            <a:ext cx="2383566" cy="46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加载场地先验地图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SLF 定位、规划与重定位</a:t>
            </a:r>
            <a:endParaRPr lang="en-US" sz="1200" dirty="0"/>
          </a:p>
        </p:txBody>
      </p:sp>
      <p:sp>
        <p:nvSpPr>
          <p:cNvPr id="65" name="Text 59"/>
          <p:cNvSpPr/>
          <p:nvPr/>
        </p:nvSpPr>
        <p:spPr>
          <a:xfrm>
            <a:off x="6223041" y="5918180"/>
            <a:ext cx="3645438" cy="23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规划速度经</a:t>
            </a:r>
            <a:r>
              <a:rPr lang="en-US" sz="1200" dirty="0">
                <a:solidFill>
                  <a:srgbClr val="7FE7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限幅、变化率与超时约束</a:t>
            </a:r>
            <a:r>
              <a:rPr lang="en-US" sz="1200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后交给运动控制</a:t>
            </a:r>
            <a:endParaRPr lang="en-US" sz="1200" dirty="0"/>
          </a:p>
        </p:txBody>
      </p:sp>
      <p:sp>
        <p:nvSpPr>
          <p:cNvPr id="66" name="Text 60"/>
          <p:cNvSpPr/>
          <p:nvPr/>
        </p:nvSpPr>
        <p:spPr>
          <a:xfrm>
            <a:off x="609630" y="6438930"/>
            <a:ext cx="2091964" cy="2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云拓 YunTuo · 技术方案介绍</a:t>
            </a:r>
            <a:endParaRPr lang="en-US" sz="1200" dirty="0"/>
          </a:p>
        </p:txBody>
      </p:sp>
      <p:sp>
        <p:nvSpPr>
          <p:cNvPr id="67" name="Text 61"/>
          <p:cNvSpPr/>
          <p:nvPr/>
        </p:nvSpPr>
        <p:spPr>
          <a:xfrm>
            <a:off x="11042477" y="6438930"/>
            <a:ext cx="539953" cy="2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05 / 08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Desktop\SOC FPGA\Yuntuo\presentation\assets\fpga-competi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10" y="215890"/>
            <a:ext cx="1455999" cy="508041"/>
          </a:xfrm>
          <a:prstGeom prst="rect">
            <a:avLst/>
          </a:prstGeom>
        </p:spPr>
      </p:pic>
      <p:pic>
        <p:nvPicPr>
          <p:cNvPr id="3" name="Image 1" descr="D:\Desktop\SOC FPGA\Yuntuo\presentation\assets\chy-logo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1885" y="279441"/>
            <a:ext cx="669707" cy="35561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9761311" y="317480"/>
            <a:ext cx="12710" cy="279441"/>
          </a:xfrm>
          <a:prstGeom prst="rect">
            <a:avLst/>
          </a:prstGeom>
          <a:solidFill>
            <a:srgbClr val="253945"/>
          </a:solidFill>
          <a:ln/>
        </p:spPr>
      </p:sp>
      <p:pic>
        <p:nvPicPr>
          <p:cNvPr id="5" name="Image 2" descr="D:\Desktop\SOC FPGA\Yuntuo\presentation\assets\yuntuo-m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3742" y="279441"/>
            <a:ext cx="355610" cy="35561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0409072" y="352410"/>
            <a:ext cx="1236817" cy="234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500" b="1" spc="25" kern="0" dirty="0">
                <a:solidFill>
                  <a:srgbClr val="ECF3F4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YunTuo </a:t>
            </a:r>
            <a:r>
              <a:rPr lang="en-US" sz="1500" spc="25" kern="0" dirty="0">
                <a:solidFill>
                  <a:srgbClr val="91A7B3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Robot</a:t>
            </a:r>
            <a:endParaRPr lang="en-US" sz="1500" dirty="0"/>
          </a:p>
        </p:txBody>
      </p:sp>
      <p:sp>
        <p:nvSpPr>
          <p:cNvPr id="7" name="Text 2"/>
          <p:cNvSpPr/>
          <p:nvPr/>
        </p:nvSpPr>
        <p:spPr>
          <a:xfrm>
            <a:off x="609630" y="952530"/>
            <a:ext cx="1252911" cy="223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spc="150" kern="0" dirty="0">
                <a:solidFill>
                  <a:srgbClr val="7FE7E1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05 运动控制</a:t>
            </a:r>
            <a:endParaRPr lang="en-US" sz="1300" dirty="0"/>
          </a:p>
        </p:txBody>
      </p:sp>
      <p:sp>
        <p:nvSpPr>
          <p:cNvPr id="8" name="Text 3"/>
          <p:cNvSpPr/>
          <p:nvPr/>
        </p:nvSpPr>
        <p:spPr>
          <a:xfrm>
            <a:off x="609630" y="1181130"/>
            <a:ext cx="9358427" cy="565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b="1" spc="50" kern="0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强化学习策略在 FPGA 上每 8 ms 推理一次</a:t>
            </a:r>
            <a:endParaRPr lang="en-US" sz="3400" dirty="0"/>
          </a:p>
        </p:txBody>
      </p:sp>
      <p:sp>
        <p:nvSpPr>
          <p:cNvPr id="9" name="Shape 4"/>
          <p:cNvSpPr/>
          <p:nvPr/>
        </p:nvSpPr>
        <p:spPr>
          <a:xfrm>
            <a:off x="609630" y="2031980"/>
            <a:ext cx="1904970" cy="825520"/>
          </a:xfrm>
          <a:prstGeom prst="roundRect">
            <a:avLst>
              <a:gd name="adj" fmla="val 10767"/>
            </a:avLst>
          </a:prstGeom>
          <a:solidFill>
            <a:srgbClr val="10232D">
              <a:alpha val="55000"/>
            </a:srgbClr>
          </a:solidFill>
          <a:ln w="12700">
            <a:solidFill>
              <a:srgbClr val="253945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787390" y="2211111"/>
            <a:ext cx="1719621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当前观测 · 28 维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787390" y="2480310"/>
            <a:ext cx="1795790" cy="223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姿态 · 轮速 · 运动目标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1565270" y="2857500"/>
            <a:ext cx="0" cy="254020"/>
          </a:xfrm>
          <a:prstGeom prst="line">
            <a:avLst/>
          </a:prstGeom>
          <a:noFill/>
          <a:ln w="19050">
            <a:solidFill>
              <a:srgbClr val="7FE7E1"/>
            </a:solidFill>
            <a:prstDash val="solid"/>
            <a:tailEnd type="triangle" w="lg" len="lg"/>
          </a:ln>
        </p:spPr>
      </p:sp>
      <p:sp>
        <p:nvSpPr>
          <p:cNvPr id="13" name="Shape 8"/>
          <p:cNvSpPr/>
          <p:nvPr/>
        </p:nvSpPr>
        <p:spPr>
          <a:xfrm>
            <a:off x="609630" y="3111520"/>
            <a:ext cx="1904970" cy="825520"/>
          </a:xfrm>
          <a:prstGeom prst="roundRect">
            <a:avLst>
              <a:gd name="adj" fmla="val 10767"/>
            </a:avLst>
          </a:prstGeom>
          <a:solidFill>
            <a:srgbClr val="10232D">
              <a:alpha val="55000"/>
            </a:srgbClr>
          </a:solidFill>
          <a:ln w="12700">
            <a:solidFill>
              <a:srgbClr val="253945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787390" y="3290560"/>
            <a:ext cx="1666220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帧历史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787390" y="3559759"/>
            <a:ext cx="1658630" cy="223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5 × 28 = 140 维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2514600" y="3527389"/>
            <a:ext cx="381030" cy="0"/>
          </a:xfrm>
          <a:prstGeom prst="line">
            <a:avLst/>
          </a:prstGeom>
          <a:noFill/>
          <a:ln w="19050">
            <a:solidFill>
              <a:srgbClr val="7FE7E1"/>
            </a:solidFill>
            <a:prstDash val="solid"/>
            <a:tailEnd type="triangle" w="lg" len="lg"/>
          </a:ln>
        </p:spPr>
      </p:sp>
      <p:sp>
        <p:nvSpPr>
          <p:cNvPr id="17" name="Shape 12"/>
          <p:cNvSpPr/>
          <p:nvPr/>
        </p:nvSpPr>
        <p:spPr>
          <a:xfrm>
            <a:off x="2895630" y="3111520"/>
            <a:ext cx="1904970" cy="825520"/>
          </a:xfrm>
          <a:prstGeom prst="roundRect">
            <a:avLst>
              <a:gd name="adj" fmla="val 10767"/>
            </a:avLst>
          </a:prstGeom>
          <a:solidFill>
            <a:srgbClr val="10232D">
              <a:alpha val="55000"/>
            </a:srgbClr>
          </a:solidFill>
          <a:ln w="12700">
            <a:solidFill>
              <a:srgbClr val="253945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073390" y="3290560"/>
            <a:ext cx="1612910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历史编码器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3073390" y="3559759"/>
            <a:ext cx="1612910" cy="223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140 → 128 → 64 → 3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2514600" y="2447940"/>
            <a:ext cx="2667030" cy="0"/>
          </a:xfrm>
          <a:prstGeom prst="line">
            <a:avLst/>
          </a:prstGeom>
          <a:noFill/>
          <a:ln w="19050">
            <a:solidFill>
              <a:srgbClr val="7FE7E1"/>
            </a:solidFill>
            <a:prstDash val="solid"/>
            <a:tailEnd type="triangle" w="lg" len="lg"/>
          </a:ln>
        </p:spPr>
      </p:sp>
      <p:sp>
        <p:nvSpPr>
          <p:cNvPr id="21" name="Text 16"/>
          <p:cNvSpPr/>
          <p:nvPr/>
        </p:nvSpPr>
        <p:spPr>
          <a:xfrm>
            <a:off x="3429000" y="2158990"/>
            <a:ext cx="1130290" cy="23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当前帧直接输入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800600" y="3527389"/>
            <a:ext cx="381030" cy="0"/>
          </a:xfrm>
          <a:prstGeom prst="line">
            <a:avLst/>
          </a:prstGeom>
          <a:noFill/>
          <a:ln w="19050">
            <a:solidFill>
              <a:srgbClr val="7FE7E1"/>
            </a:solidFill>
            <a:prstDash val="solid"/>
            <a:tailEnd type="triangle" w="lg" len="lg"/>
          </a:ln>
        </p:spPr>
      </p:sp>
      <p:sp>
        <p:nvSpPr>
          <p:cNvPr id="23" name="Text 18"/>
          <p:cNvSpPr/>
          <p:nvPr/>
        </p:nvSpPr>
        <p:spPr>
          <a:xfrm>
            <a:off x="4838730" y="3251241"/>
            <a:ext cx="383134" cy="23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3 维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5181630" y="2031980"/>
            <a:ext cx="2031980" cy="1904970"/>
          </a:xfrm>
          <a:prstGeom prst="roundRect">
            <a:avLst>
              <a:gd name="adj" fmla="val 4666"/>
            </a:avLst>
          </a:prstGeom>
          <a:solidFill>
            <a:srgbClr val="7FE7E1">
              <a:alpha val="7000"/>
            </a:srgbClr>
          </a:solidFill>
          <a:ln w="12700">
            <a:solidFill>
              <a:srgbClr val="7FE7E1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359390" y="2456810"/>
            <a:ext cx="1743486" cy="27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7FE7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动作网络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5359390" y="2767980"/>
            <a:ext cx="1789206" cy="223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 + 3 = 31 维输入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5359390" y="3029590"/>
            <a:ext cx="1834926" cy="508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隐层 </a:t>
            </a:r>
            <a:r>
              <a:rPr lang="en-US" sz="1200" dirty="0">
                <a:solidFill>
                  <a:srgbClr val="ECF3F4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128 · 64 · 32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</a:t>
            </a:r>
            <a:r>
              <a:rPr lang="en-US" sz="1200" dirty="0">
                <a:solidFill>
                  <a:srgbClr val="ECF3F4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6</a:t>
            </a:r>
            <a:r>
              <a:rPr lang="en-US" sz="1200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维动作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7213610" y="2987711"/>
            <a:ext cx="381030" cy="0"/>
          </a:xfrm>
          <a:prstGeom prst="line">
            <a:avLst/>
          </a:prstGeom>
          <a:noFill/>
          <a:ln w="19050">
            <a:solidFill>
              <a:srgbClr val="7FE7E1"/>
            </a:solidFill>
            <a:prstDash val="solid"/>
            <a:tailEnd type="triangle" w="lg" len="lg"/>
          </a:ln>
        </p:spPr>
      </p:sp>
      <p:sp>
        <p:nvSpPr>
          <p:cNvPr id="29" name="Shape 24"/>
          <p:cNvSpPr/>
          <p:nvPr/>
        </p:nvSpPr>
        <p:spPr>
          <a:xfrm>
            <a:off x="7594641" y="2031980"/>
            <a:ext cx="1841510" cy="1904970"/>
          </a:xfrm>
          <a:prstGeom prst="roundRect">
            <a:avLst>
              <a:gd name="adj" fmla="val 4826"/>
            </a:avLst>
          </a:prstGeom>
          <a:solidFill>
            <a:srgbClr val="10232D">
              <a:alpha val="55000"/>
            </a:srgbClr>
          </a:solidFill>
          <a:ln w="12700">
            <a:solidFill>
              <a:srgbClr val="253945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7772400" y="2585100"/>
            <a:ext cx="1606509" cy="27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路动作</a:t>
            </a:r>
            <a:endParaRPr lang="en-US" sz="1500" dirty="0"/>
          </a:p>
        </p:txBody>
      </p:sp>
      <p:sp>
        <p:nvSpPr>
          <p:cNvPr id="31" name="Text 26"/>
          <p:cNvSpPr/>
          <p:nvPr/>
        </p:nvSpPr>
        <p:spPr>
          <a:xfrm>
            <a:off x="7772400" y="2896271"/>
            <a:ext cx="1732239" cy="51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左髋 · 左膝 · 左轮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右髋 · 右膝 · 右轮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9436059" y="2447940"/>
            <a:ext cx="381030" cy="0"/>
          </a:xfrm>
          <a:prstGeom prst="line">
            <a:avLst/>
          </a:prstGeom>
          <a:noFill/>
          <a:ln w="19050">
            <a:solidFill>
              <a:srgbClr val="7FE7E1"/>
            </a:solidFill>
            <a:prstDash val="solid"/>
            <a:tailEnd type="triangle" w="lg" len="lg"/>
          </a:ln>
        </p:spPr>
      </p:sp>
      <p:sp>
        <p:nvSpPr>
          <p:cNvPr id="33" name="Shape 28"/>
          <p:cNvSpPr/>
          <p:nvPr/>
        </p:nvSpPr>
        <p:spPr>
          <a:xfrm>
            <a:off x="9817090" y="2031980"/>
            <a:ext cx="1765341" cy="825520"/>
          </a:xfrm>
          <a:prstGeom prst="roundRect">
            <a:avLst>
              <a:gd name="adj" fmla="val 10767"/>
            </a:avLst>
          </a:prstGeom>
          <a:solidFill>
            <a:srgbClr val="10232D">
              <a:alpha val="55000"/>
            </a:srgbClr>
          </a:solidFill>
          <a:ln w="12700">
            <a:solidFill>
              <a:srgbClr val="253945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9994941" y="2211111"/>
            <a:ext cx="1526499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腿部舵机 ×4</a:t>
            </a:r>
            <a:endParaRPr lang="en-US" sz="1400" dirty="0"/>
          </a:p>
        </p:txBody>
      </p:sp>
      <p:sp>
        <p:nvSpPr>
          <p:cNvPr id="35" name="Text 30"/>
          <p:cNvSpPr/>
          <p:nvPr/>
        </p:nvSpPr>
        <p:spPr>
          <a:xfrm>
            <a:off x="9994941" y="2480310"/>
            <a:ext cx="1518910" cy="223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高度 IK → PWM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9436059" y="3527389"/>
            <a:ext cx="381030" cy="0"/>
          </a:xfrm>
          <a:prstGeom prst="line">
            <a:avLst/>
          </a:prstGeom>
          <a:noFill/>
          <a:ln w="19050">
            <a:solidFill>
              <a:srgbClr val="7FE7E1"/>
            </a:solidFill>
            <a:prstDash val="solid"/>
            <a:tailEnd type="triangle" w="lg" len="lg"/>
          </a:ln>
        </p:spPr>
      </p:sp>
      <p:sp>
        <p:nvSpPr>
          <p:cNvPr id="37" name="Shape 32"/>
          <p:cNvSpPr/>
          <p:nvPr/>
        </p:nvSpPr>
        <p:spPr>
          <a:xfrm>
            <a:off x="9817090" y="3111520"/>
            <a:ext cx="1765341" cy="825520"/>
          </a:xfrm>
          <a:prstGeom prst="roundRect">
            <a:avLst>
              <a:gd name="adj" fmla="val 10767"/>
            </a:avLst>
          </a:prstGeom>
          <a:solidFill>
            <a:srgbClr val="10232D">
              <a:alpha val="55000"/>
            </a:srgbClr>
          </a:solidFill>
          <a:ln w="12700">
            <a:solidFill>
              <a:srgbClr val="253945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9994941" y="3290560"/>
            <a:ext cx="1526499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车轮电机 ×2</a:t>
            </a:r>
            <a:endParaRPr lang="en-US" sz="1400" dirty="0"/>
          </a:p>
        </p:txBody>
      </p:sp>
      <p:sp>
        <p:nvSpPr>
          <p:cNvPr id="39" name="Text 34"/>
          <p:cNvSpPr/>
          <p:nvPr/>
        </p:nvSpPr>
        <p:spPr>
          <a:xfrm>
            <a:off x="9994941" y="3559759"/>
            <a:ext cx="1518910" cy="223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编码器闭环 → PWM</a:t>
            </a:r>
            <a:endParaRPr lang="en-US" sz="1200" dirty="0"/>
          </a:p>
        </p:txBody>
      </p:sp>
      <p:sp>
        <p:nvSpPr>
          <p:cNvPr id="40" name="Shape 35"/>
          <p:cNvSpPr/>
          <p:nvPr/>
        </p:nvSpPr>
        <p:spPr>
          <a:xfrm>
            <a:off x="609630" y="4292559"/>
            <a:ext cx="10972800" cy="12710"/>
          </a:xfrm>
          <a:prstGeom prst="rect">
            <a:avLst/>
          </a:prstGeom>
          <a:solidFill>
            <a:srgbClr val="253945"/>
          </a:solidFill>
          <a:ln/>
        </p:spPr>
      </p:sp>
      <p:sp>
        <p:nvSpPr>
          <p:cNvPr id="41" name="Text 36"/>
          <p:cNvSpPr/>
          <p:nvPr/>
        </p:nvSpPr>
        <p:spPr>
          <a:xfrm>
            <a:off x="609630" y="4622841"/>
            <a:ext cx="1137696" cy="584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dirty="0">
                <a:solidFill>
                  <a:srgbClr val="7FE7E1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125</a:t>
            </a:r>
            <a:r>
              <a:rPr lang="en-US" sz="2000" dirty="0">
                <a:solidFill>
                  <a:srgbClr val="7FE7E1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 Hz</a:t>
            </a:r>
            <a:endParaRPr lang="en-US" sz="4000" dirty="0"/>
          </a:p>
        </p:txBody>
      </p:sp>
      <p:sp>
        <p:nvSpPr>
          <p:cNvPr id="42" name="Text 37"/>
          <p:cNvSpPr/>
          <p:nvPr/>
        </p:nvSpPr>
        <p:spPr>
          <a:xfrm>
            <a:off x="609630" y="5270510"/>
            <a:ext cx="2468880" cy="46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 8 ms 读取姿态与轮速，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闭环在片内完成</a:t>
            </a:r>
            <a:endParaRPr lang="en-US" sz="1200" dirty="0"/>
          </a:p>
        </p:txBody>
      </p:sp>
      <p:sp>
        <p:nvSpPr>
          <p:cNvPr id="43" name="Text 38"/>
          <p:cNvSpPr/>
          <p:nvPr/>
        </p:nvSpPr>
        <p:spPr>
          <a:xfrm>
            <a:off x="3149559" y="4622841"/>
            <a:ext cx="1558046" cy="584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dirty="0">
                <a:solidFill>
                  <a:srgbClr val="7FE7E1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40,704</a:t>
            </a:r>
            <a:endParaRPr lang="en-US" sz="4000" dirty="0"/>
          </a:p>
        </p:txBody>
      </p:sp>
      <p:sp>
        <p:nvSpPr>
          <p:cNvPr id="44" name="Text 39"/>
          <p:cNvSpPr/>
          <p:nvPr/>
        </p:nvSpPr>
        <p:spPr>
          <a:xfrm>
            <a:off x="3149559" y="5270510"/>
            <a:ext cx="2468880" cy="246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位权重，存放于片上 ROM</a:t>
            </a:r>
            <a:endParaRPr lang="en-US" sz="1200" dirty="0"/>
          </a:p>
        </p:txBody>
      </p:sp>
      <p:sp>
        <p:nvSpPr>
          <p:cNvPr id="45" name="Text 40"/>
          <p:cNvSpPr/>
          <p:nvPr/>
        </p:nvSpPr>
        <p:spPr>
          <a:xfrm>
            <a:off x="5689580" y="4622841"/>
            <a:ext cx="828812" cy="584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dirty="0">
                <a:solidFill>
                  <a:srgbClr val="7FE7E1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Q12</a:t>
            </a:r>
            <a:endParaRPr lang="en-US" sz="4000" dirty="0"/>
          </a:p>
        </p:txBody>
      </p:sp>
      <p:sp>
        <p:nvSpPr>
          <p:cNvPr id="46" name="Text 41"/>
          <p:cNvSpPr/>
          <p:nvPr/>
        </p:nvSpPr>
        <p:spPr>
          <a:xfrm>
            <a:off x="5689580" y="5270510"/>
            <a:ext cx="2423160" cy="246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位定点输入、激活与输出</a:t>
            </a:r>
            <a:endParaRPr lang="en-US" sz="1200" dirty="0"/>
          </a:p>
        </p:txBody>
      </p:sp>
      <p:pic>
        <p:nvPicPr>
          <p:cNvPr id="47" name="Image 3" descr="D:\Desktop\SOC FPGA\Yuntuo\presentation\assets\mujoco-previe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1430" y="4673590"/>
            <a:ext cx="2520909" cy="1651041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9061430" y="4406859"/>
            <a:ext cx="2306665" cy="223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MuJoCo 动力学仿真 · sim2sim</a:t>
            </a:r>
            <a:endParaRPr lang="en-US" sz="1200" dirty="0"/>
          </a:p>
        </p:txBody>
      </p:sp>
      <p:sp>
        <p:nvSpPr>
          <p:cNvPr id="49" name="Text 43"/>
          <p:cNvSpPr/>
          <p:nvPr/>
        </p:nvSpPr>
        <p:spPr>
          <a:xfrm>
            <a:off x="609630" y="6438930"/>
            <a:ext cx="2091964" cy="2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云拓 YunTuo · 技术方案介绍</a:t>
            </a:r>
            <a:endParaRPr lang="en-US" sz="1200" dirty="0"/>
          </a:p>
        </p:txBody>
      </p:sp>
      <p:sp>
        <p:nvSpPr>
          <p:cNvPr id="50" name="Text 44"/>
          <p:cNvSpPr/>
          <p:nvPr/>
        </p:nvSpPr>
        <p:spPr>
          <a:xfrm>
            <a:off x="11047232" y="6438930"/>
            <a:ext cx="535198" cy="2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06 / 08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Desktop\SOC FPGA\Yuntuo\presentation\assets\fpga-competi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10" y="215890"/>
            <a:ext cx="1455999" cy="508041"/>
          </a:xfrm>
          <a:prstGeom prst="rect">
            <a:avLst/>
          </a:prstGeom>
        </p:spPr>
      </p:pic>
      <p:pic>
        <p:nvPicPr>
          <p:cNvPr id="3" name="Image 1" descr="D:\Desktop\SOC FPGA\Yuntuo\presentation\assets\chy-logo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1885" y="279441"/>
            <a:ext cx="669707" cy="35561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9761311" y="317480"/>
            <a:ext cx="12710" cy="279441"/>
          </a:xfrm>
          <a:prstGeom prst="rect">
            <a:avLst/>
          </a:prstGeom>
          <a:solidFill>
            <a:srgbClr val="253945"/>
          </a:solidFill>
          <a:ln/>
        </p:spPr>
      </p:sp>
      <p:pic>
        <p:nvPicPr>
          <p:cNvPr id="5" name="Image 2" descr="D:\Desktop\SOC FPGA\Yuntuo\presentation\assets\yuntuo-m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3742" y="279441"/>
            <a:ext cx="355610" cy="35561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0409072" y="352410"/>
            <a:ext cx="1236817" cy="234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500" b="1" spc="25" kern="0" dirty="0">
                <a:solidFill>
                  <a:srgbClr val="ECF3F4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YunTuo </a:t>
            </a:r>
            <a:r>
              <a:rPr lang="en-US" sz="1500" spc="25" kern="0" dirty="0">
                <a:solidFill>
                  <a:srgbClr val="91A7B3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Robot</a:t>
            </a:r>
            <a:endParaRPr lang="en-US" sz="1500" dirty="0"/>
          </a:p>
        </p:txBody>
      </p:sp>
      <p:sp>
        <p:nvSpPr>
          <p:cNvPr id="7" name="Text 2"/>
          <p:cNvSpPr/>
          <p:nvPr/>
        </p:nvSpPr>
        <p:spPr>
          <a:xfrm>
            <a:off x="609630" y="952530"/>
            <a:ext cx="1804203" cy="223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spc="150" kern="0" dirty="0">
                <a:solidFill>
                  <a:srgbClr val="7FE7E1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06 边缘智能与交互</a:t>
            </a:r>
            <a:endParaRPr lang="en-US" sz="1300" dirty="0"/>
          </a:p>
        </p:txBody>
      </p:sp>
      <p:sp>
        <p:nvSpPr>
          <p:cNvPr id="8" name="Text 3"/>
          <p:cNvSpPr/>
          <p:nvPr/>
        </p:nvSpPr>
        <p:spPr>
          <a:xfrm>
            <a:off x="609630" y="1181130"/>
            <a:ext cx="11572738" cy="565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b="1" spc="50" kern="0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一句话下达任务：RK3588 离线理解，FPGA 自主执行</a:t>
            </a:r>
            <a:endParaRPr lang="en-US" sz="3400" dirty="0"/>
          </a:p>
        </p:txBody>
      </p:sp>
      <p:sp>
        <p:nvSpPr>
          <p:cNvPr id="9" name="Shape 4"/>
          <p:cNvSpPr/>
          <p:nvPr/>
        </p:nvSpPr>
        <p:spPr>
          <a:xfrm>
            <a:off x="609630" y="2006559"/>
            <a:ext cx="1981230" cy="952530"/>
          </a:xfrm>
          <a:prstGeom prst="roundRect">
            <a:avLst>
              <a:gd name="adj" fmla="val 9331"/>
            </a:avLst>
          </a:prstGeom>
          <a:solidFill>
            <a:srgbClr val="10232D">
              <a:alpha val="55000"/>
            </a:srgbClr>
          </a:solidFill>
          <a:ln w="12700">
            <a:solidFill>
              <a:srgbClr val="F5AB79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761970" y="2249150"/>
            <a:ext cx="1743486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“帮我找红色水瓶”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761970" y="2518349"/>
            <a:ext cx="1834926" cy="223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车载麦克风 / 小程序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2590770" y="2486071"/>
            <a:ext cx="266730" cy="0"/>
          </a:xfrm>
          <a:prstGeom prst="line">
            <a:avLst/>
          </a:prstGeom>
          <a:noFill/>
          <a:ln w="19050">
            <a:solidFill>
              <a:srgbClr val="7FE7E1"/>
            </a:solidFill>
            <a:prstDash val="solid"/>
            <a:tailEnd type="triangle" w="lg" len="lg"/>
          </a:ln>
        </p:spPr>
      </p:sp>
      <p:sp>
        <p:nvSpPr>
          <p:cNvPr id="13" name="Shape 8"/>
          <p:cNvSpPr/>
          <p:nvPr/>
        </p:nvSpPr>
        <p:spPr>
          <a:xfrm>
            <a:off x="2857500" y="2006559"/>
            <a:ext cx="1981230" cy="952530"/>
          </a:xfrm>
          <a:prstGeom prst="roundRect">
            <a:avLst>
              <a:gd name="adj" fmla="val 9331"/>
            </a:avLst>
          </a:prstGeom>
          <a:solidFill>
            <a:srgbClr val="10232D">
              <a:alpha val="55000"/>
            </a:srgbClr>
          </a:solidFill>
          <a:ln w="12700">
            <a:solidFill>
              <a:srgbClr val="253945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3009930" y="2240920"/>
            <a:ext cx="1743486" cy="27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语音识别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3009930" y="2526670"/>
            <a:ext cx="1743486" cy="223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SenseVoice · CPU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838730" y="2486071"/>
            <a:ext cx="266730" cy="0"/>
          </a:xfrm>
          <a:prstGeom prst="line">
            <a:avLst/>
          </a:prstGeom>
          <a:noFill/>
          <a:ln w="19050">
            <a:solidFill>
              <a:srgbClr val="7FE7E1"/>
            </a:solidFill>
            <a:prstDash val="solid"/>
            <a:tailEnd type="triangle" w="lg" len="lg"/>
          </a:ln>
        </p:spPr>
      </p:sp>
      <p:sp>
        <p:nvSpPr>
          <p:cNvPr id="17" name="Shape 12"/>
          <p:cNvSpPr/>
          <p:nvPr/>
        </p:nvSpPr>
        <p:spPr>
          <a:xfrm>
            <a:off x="5105370" y="2006559"/>
            <a:ext cx="1981230" cy="952530"/>
          </a:xfrm>
          <a:prstGeom prst="roundRect">
            <a:avLst>
              <a:gd name="adj" fmla="val 9331"/>
            </a:avLst>
          </a:prstGeom>
          <a:solidFill>
            <a:srgbClr val="10232D">
              <a:alpha val="55000"/>
            </a:srgbClr>
          </a:solidFill>
          <a:ln w="12700">
            <a:solidFill>
              <a:srgbClr val="253945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257800" y="2240920"/>
            <a:ext cx="1743486" cy="27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意图解析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257800" y="2526670"/>
            <a:ext cx="1743486" cy="223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Qwen3-1.7B · NPU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7086600" y="2486071"/>
            <a:ext cx="266730" cy="0"/>
          </a:xfrm>
          <a:prstGeom prst="line">
            <a:avLst/>
          </a:prstGeom>
          <a:noFill/>
          <a:ln w="19050">
            <a:solidFill>
              <a:srgbClr val="7FE7E1"/>
            </a:solidFill>
            <a:prstDash val="solid"/>
            <a:tailEnd type="triangle" w="lg" len="lg"/>
          </a:ln>
        </p:spPr>
      </p:sp>
      <p:sp>
        <p:nvSpPr>
          <p:cNvPr id="21" name="Shape 16"/>
          <p:cNvSpPr/>
          <p:nvPr/>
        </p:nvSpPr>
        <p:spPr>
          <a:xfrm>
            <a:off x="7353330" y="2006559"/>
            <a:ext cx="1981230" cy="952530"/>
          </a:xfrm>
          <a:prstGeom prst="roundRect">
            <a:avLst>
              <a:gd name="adj" fmla="val 9331"/>
            </a:avLst>
          </a:prstGeom>
          <a:solidFill>
            <a:srgbClr val="10232D">
              <a:alpha val="55000"/>
            </a:srgbClr>
          </a:solidFill>
          <a:ln w="12700">
            <a:solidFill>
              <a:srgbClr val="253945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7505670" y="2240920"/>
            <a:ext cx="1743486" cy="27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目标三维定位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7505670" y="2526670"/>
            <a:ext cx="1834926" cy="223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YOLO26n + 深度 · NPU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9334470" y="2486071"/>
            <a:ext cx="266730" cy="0"/>
          </a:xfrm>
          <a:prstGeom prst="line">
            <a:avLst/>
          </a:prstGeom>
          <a:noFill/>
          <a:ln w="19050">
            <a:solidFill>
              <a:srgbClr val="7FE7E1"/>
            </a:solidFill>
            <a:prstDash val="solid"/>
            <a:tailEnd type="triangle" w="lg" len="lg"/>
          </a:ln>
        </p:spPr>
      </p:sp>
      <p:sp>
        <p:nvSpPr>
          <p:cNvPr id="25" name="Shape 20"/>
          <p:cNvSpPr/>
          <p:nvPr/>
        </p:nvSpPr>
        <p:spPr>
          <a:xfrm>
            <a:off x="9601200" y="2006559"/>
            <a:ext cx="1981230" cy="952530"/>
          </a:xfrm>
          <a:prstGeom prst="roundRect">
            <a:avLst>
              <a:gd name="adj" fmla="val 9331"/>
            </a:avLst>
          </a:prstGeom>
          <a:solidFill>
            <a:srgbClr val="7FE7E1">
              <a:alpha val="7000"/>
            </a:srgbClr>
          </a:solidFill>
          <a:ln w="12700">
            <a:solidFill>
              <a:srgbClr val="7FE7E1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9753630" y="2240920"/>
            <a:ext cx="1800636" cy="27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7FE7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FPGA 自主执行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9753630" y="2526670"/>
            <a:ext cx="1926366" cy="223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 · 接近 · 停稳确认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609630" y="3124230"/>
            <a:ext cx="7986370" cy="23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解析为“类别 水瓶 · 颜色 红色” → 视觉持续筛选与跟踪 → 机身系三维位置下发 FPGA → 语音播报任务进度</a:t>
            </a:r>
            <a:endParaRPr lang="en-US" sz="1200" dirty="0"/>
          </a:p>
        </p:txBody>
      </p:sp>
      <p:pic>
        <p:nvPicPr>
          <p:cNvPr id="29" name="Image 3" descr="D:\Desktop\SOC FPGA\Yuntuo\presentation\assets\web-conso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30" y="3530590"/>
            <a:ext cx="4051341" cy="2667030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609630" y="3530590"/>
            <a:ext cx="4051341" cy="2667030"/>
          </a:xfrm>
          <a:prstGeom prst="rect">
            <a:avLst/>
          </a:prstGeom>
          <a:noFill/>
          <a:ln w="12700">
            <a:solidFill>
              <a:srgbClr val="253945"/>
            </a:solidFill>
            <a:prstDash val="solid"/>
          </a:ln>
        </p:spPr>
      </p:sp>
      <p:pic>
        <p:nvPicPr>
          <p:cNvPr id="31" name="Image 4" descr="D:\Desktop\SOC FPGA\Yuntuo\presentation\assets\miniprogram-home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3310" y="3530590"/>
            <a:ext cx="1238280" cy="2667030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4813310" y="3530590"/>
            <a:ext cx="1238280" cy="2667030"/>
          </a:xfrm>
          <a:prstGeom prst="rect">
            <a:avLst/>
          </a:prstGeom>
          <a:noFill/>
          <a:ln w="12700">
            <a:solidFill>
              <a:srgbClr val="253945"/>
            </a:solidFill>
            <a:prstDash val="solid"/>
          </a:ln>
        </p:spPr>
      </p:sp>
      <p:pic>
        <p:nvPicPr>
          <p:cNvPr id="33" name="Image 5" descr="D:\Desktop\SOC FPGA\Yuntuo\presentation\assets\miniprogram-assistant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3930" y="3530590"/>
            <a:ext cx="1238280" cy="2667030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6203930" y="3530590"/>
            <a:ext cx="1238280" cy="2667030"/>
          </a:xfrm>
          <a:prstGeom prst="rect">
            <a:avLst/>
          </a:prstGeom>
          <a:noFill/>
          <a:ln w="12700">
            <a:solidFill>
              <a:srgbClr val="253945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7848570" y="3505170"/>
            <a:ext cx="2575590" cy="27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双端交互，共用一套任务服务</a:t>
            </a:r>
            <a:endParaRPr lang="en-US" sz="1500" dirty="0"/>
          </a:p>
        </p:txBody>
      </p:sp>
      <p:sp>
        <p:nvSpPr>
          <p:cNvPr id="36" name="Shape 28"/>
          <p:cNvSpPr/>
          <p:nvPr/>
        </p:nvSpPr>
        <p:spPr>
          <a:xfrm>
            <a:off x="7848570" y="3911620"/>
            <a:ext cx="3733770" cy="12710"/>
          </a:xfrm>
          <a:prstGeom prst="rect">
            <a:avLst/>
          </a:prstGeom>
          <a:solidFill>
            <a:srgbClr val="253945"/>
          </a:solidFill>
          <a:ln/>
        </p:spPr>
      </p:sp>
      <p:sp>
        <p:nvSpPr>
          <p:cNvPr id="37" name="Text 29"/>
          <p:cNvSpPr/>
          <p:nvPr/>
        </p:nvSpPr>
        <p:spPr>
          <a:xfrm>
            <a:off x="7848570" y="4000500"/>
            <a:ext cx="103656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控制台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7848570" y="4241810"/>
            <a:ext cx="2218974" cy="223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地图、视频、任务、遥测与事件</a:t>
            </a:r>
            <a:endParaRPr lang="en-US" sz="1200" dirty="0"/>
          </a:p>
        </p:txBody>
      </p:sp>
      <p:sp>
        <p:nvSpPr>
          <p:cNvPr id="39" name="Shape 31"/>
          <p:cNvSpPr/>
          <p:nvPr/>
        </p:nvSpPr>
        <p:spPr>
          <a:xfrm>
            <a:off x="7848570" y="4521159"/>
            <a:ext cx="3733770" cy="12710"/>
          </a:xfrm>
          <a:prstGeom prst="rect">
            <a:avLst/>
          </a:prstGeom>
          <a:solidFill>
            <a:srgbClr val="253945"/>
          </a:solidFill>
          <a:ln/>
        </p:spPr>
      </p:sp>
      <p:sp>
        <p:nvSpPr>
          <p:cNvPr id="40" name="Text 32"/>
          <p:cNvSpPr/>
          <p:nvPr/>
        </p:nvSpPr>
        <p:spPr>
          <a:xfrm>
            <a:off x="7848570" y="4610130"/>
            <a:ext cx="8889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微信小程序</a:t>
            </a:r>
            <a:endParaRPr lang="en-US" sz="1300" dirty="0"/>
          </a:p>
        </p:txBody>
      </p:sp>
      <p:sp>
        <p:nvSpPr>
          <p:cNvPr id="41" name="Text 33"/>
          <p:cNvSpPr/>
          <p:nvPr/>
        </p:nvSpPr>
        <p:spPr>
          <a:xfrm>
            <a:off x="7848570" y="4851441"/>
            <a:ext cx="2699583" cy="223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随身下发任务，语音助手与 HLS 视频</a:t>
            </a:r>
            <a:endParaRPr lang="en-US" sz="1200" dirty="0"/>
          </a:p>
        </p:txBody>
      </p:sp>
      <p:sp>
        <p:nvSpPr>
          <p:cNvPr id="42" name="Shape 34"/>
          <p:cNvSpPr/>
          <p:nvPr/>
        </p:nvSpPr>
        <p:spPr>
          <a:xfrm>
            <a:off x="7848570" y="5130790"/>
            <a:ext cx="3733770" cy="12710"/>
          </a:xfrm>
          <a:prstGeom prst="rect">
            <a:avLst/>
          </a:prstGeom>
          <a:solidFill>
            <a:srgbClr val="253945"/>
          </a:solidFill>
          <a:ln/>
        </p:spPr>
      </p:sp>
      <p:sp>
        <p:nvSpPr>
          <p:cNvPr id="43" name="Text 35"/>
          <p:cNvSpPr/>
          <p:nvPr/>
        </p:nvSpPr>
        <p:spPr>
          <a:xfrm>
            <a:off x="7848570" y="5219670"/>
            <a:ext cx="72393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云端接入</a:t>
            </a:r>
            <a:endParaRPr lang="en-US" sz="1300" dirty="0"/>
          </a:p>
        </p:txBody>
      </p:sp>
      <p:sp>
        <p:nvSpPr>
          <p:cNvPr id="44" name="Text 36"/>
          <p:cNvSpPr/>
          <p:nvPr/>
        </p:nvSpPr>
        <p:spPr>
          <a:xfrm>
            <a:off x="7848570" y="5460980"/>
            <a:ext cx="2682484" cy="223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Nginx · Cloud Gateway · MediaMTX</a:t>
            </a:r>
            <a:endParaRPr lang="en-US" sz="1200" dirty="0"/>
          </a:p>
        </p:txBody>
      </p:sp>
      <p:sp>
        <p:nvSpPr>
          <p:cNvPr id="45" name="Shape 37"/>
          <p:cNvSpPr/>
          <p:nvPr/>
        </p:nvSpPr>
        <p:spPr>
          <a:xfrm>
            <a:off x="7848570" y="5740420"/>
            <a:ext cx="2920959" cy="12710"/>
          </a:xfrm>
          <a:prstGeom prst="rect">
            <a:avLst/>
          </a:prstGeom>
          <a:solidFill>
            <a:srgbClr val="253945"/>
          </a:solidFill>
          <a:ln/>
        </p:spPr>
      </p:sp>
      <p:sp>
        <p:nvSpPr>
          <p:cNvPr id="46" name="Text 38"/>
          <p:cNvSpPr/>
          <p:nvPr/>
        </p:nvSpPr>
        <p:spPr>
          <a:xfrm>
            <a:off x="7848570" y="5867430"/>
            <a:ext cx="1555577" cy="28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dirty="0">
                <a:solidFill>
                  <a:srgbClr val="7FE7E1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lingxunrobot.cn</a:t>
            </a:r>
            <a:endParaRPr lang="en-US" sz="1700" dirty="0"/>
          </a:p>
        </p:txBody>
      </p:sp>
      <p:pic>
        <p:nvPicPr>
          <p:cNvPr id="47" name="Image 6" descr="D:\Desktop\SOC FPGA\Yuntuo\presentation\assets\miniprogram-cod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47380" y="5562570"/>
            <a:ext cx="634959" cy="634959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609630" y="6438930"/>
            <a:ext cx="4655393" cy="2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截图：线上 Web 控制台 · 微信开发者工具（总览 / 语音助手）</a:t>
            </a:r>
            <a:endParaRPr lang="en-US" sz="1200" dirty="0"/>
          </a:p>
        </p:txBody>
      </p:sp>
      <p:sp>
        <p:nvSpPr>
          <p:cNvPr id="49" name="Text 40"/>
          <p:cNvSpPr/>
          <p:nvPr/>
        </p:nvSpPr>
        <p:spPr>
          <a:xfrm>
            <a:off x="11048695" y="6438930"/>
            <a:ext cx="533735" cy="2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07 / 08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Desktop\SOC FPGA\Yuntuo\presentation\assets\fpga-competi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10" y="215890"/>
            <a:ext cx="1455999" cy="508041"/>
          </a:xfrm>
          <a:prstGeom prst="rect">
            <a:avLst/>
          </a:prstGeom>
        </p:spPr>
      </p:pic>
      <p:pic>
        <p:nvPicPr>
          <p:cNvPr id="3" name="Image 1" descr="D:\Desktop\SOC FPGA\Yuntuo\presentation\assets\chy-logo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1885" y="279441"/>
            <a:ext cx="669707" cy="35561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9761311" y="317480"/>
            <a:ext cx="12710" cy="279441"/>
          </a:xfrm>
          <a:prstGeom prst="rect">
            <a:avLst/>
          </a:prstGeom>
          <a:solidFill>
            <a:srgbClr val="253945"/>
          </a:solidFill>
          <a:ln/>
        </p:spPr>
      </p:sp>
      <p:pic>
        <p:nvPicPr>
          <p:cNvPr id="5" name="Image 2" descr="D:\Desktop\SOC FPGA\Yuntuo\presentation\assets\yuntuo-m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3742" y="279441"/>
            <a:ext cx="355610" cy="35561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0409072" y="352410"/>
            <a:ext cx="1236817" cy="234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500" b="1" spc="25" kern="0" dirty="0">
                <a:solidFill>
                  <a:srgbClr val="ECF3F4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YunTuo </a:t>
            </a:r>
            <a:r>
              <a:rPr lang="en-US" sz="1500" spc="25" kern="0" dirty="0">
                <a:solidFill>
                  <a:srgbClr val="91A7B3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Robot</a:t>
            </a:r>
            <a:endParaRPr lang="en-US" sz="1500" dirty="0"/>
          </a:p>
        </p:txBody>
      </p:sp>
      <p:sp>
        <p:nvSpPr>
          <p:cNvPr id="7" name="Text 2"/>
          <p:cNvSpPr/>
          <p:nvPr/>
        </p:nvSpPr>
        <p:spPr>
          <a:xfrm>
            <a:off x="609630" y="952530"/>
            <a:ext cx="1246144" cy="223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spc="150" kern="0" dirty="0">
                <a:solidFill>
                  <a:srgbClr val="7FE7E1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07 设计亮点</a:t>
            </a:r>
            <a:endParaRPr lang="en-US" sz="1300" dirty="0"/>
          </a:p>
        </p:txBody>
      </p:sp>
      <p:sp>
        <p:nvSpPr>
          <p:cNvPr id="8" name="Text 3"/>
          <p:cNvSpPr/>
          <p:nvPr/>
        </p:nvSpPr>
        <p:spPr>
          <a:xfrm>
            <a:off x="609630" y="1181130"/>
            <a:ext cx="7290786" cy="565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b="1" spc="50" kern="0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实时闭环在芯片里，任务理解在边缘</a:t>
            </a:r>
            <a:endParaRPr lang="en-US" sz="3400" dirty="0"/>
          </a:p>
        </p:txBody>
      </p:sp>
      <p:sp>
        <p:nvSpPr>
          <p:cNvPr id="9" name="Shape 4"/>
          <p:cNvSpPr/>
          <p:nvPr/>
        </p:nvSpPr>
        <p:spPr>
          <a:xfrm>
            <a:off x="609630" y="2006559"/>
            <a:ext cx="6603980" cy="12710"/>
          </a:xfrm>
          <a:prstGeom prst="rect">
            <a:avLst/>
          </a:prstGeom>
          <a:solidFill>
            <a:srgbClr val="253945"/>
          </a:solidFill>
          <a:ln/>
        </p:spPr>
      </p:sp>
      <p:sp>
        <p:nvSpPr>
          <p:cNvPr id="10" name="Text 5"/>
          <p:cNvSpPr/>
          <p:nvPr/>
        </p:nvSpPr>
        <p:spPr>
          <a:xfrm>
            <a:off x="609630" y="2120859"/>
            <a:ext cx="378013" cy="416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dirty="0">
                <a:solidFill>
                  <a:srgbClr val="7FE7E1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Text 6"/>
          <p:cNvSpPr/>
          <p:nvPr/>
        </p:nvSpPr>
        <p:spPr>
          <a:xfrm>
            <a:off x="1270010" y="2133570"/>
            <a:ext cx="1358890" cy="305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单片实时闭环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1270010" y="2451141"/>
            <a:ext cx="6280374" cy="48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雷达感知、地形建图、定位规划与强化学习控制同在一片 GW5AT-LV138</a:t>
            </a:r>
            <a:endParaRPr lang="en-US" sz="13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实时环路不经过上位机，RK3588 只下发任务与视觉目标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09630" y="3060680"/>
            <a:ext cx="6603980" cy="12710"/>
          </a:xfrm>
          <a:prstGeom prst="rect">
            <a:avLst/>
          </a:prstGeom>
          <a:solidFill>
            <a:srgbClr val="253945"/>
          </a:solidFill>
          <a:ln/>
        </p:spPr>
      </p:sp>
      <p:sp>
        <p:nvSpPr>
          <p:cNvPr id="14" name="Text 9"/>
          <p:cNvSpPr/>
          <p:nvPr/>
        </p:nvSpPr>
        <p:spPr>
          <a:xfrm>
            <a:off x="609630" y="3174980"/>
            <a:ext cx="443393" cy="416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dirty="0">
                <a:solidFill>
                  <a:srgbClr val="7FE7E1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Text 10"/>
          <p:cNvSpPr/>
          <p:nvPr/>
        </p:nvSpPr>
        <p:spPr>
          <a:xfrm>
            <a:off x="1270010" y="3187690"/>
            <a:ext cx="1358890" cy="305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硬件地形建图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1270010" y="3505170"/>
            <a:ext cx="6329934" cy="48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点云投影、高程图、地形代价与结构匹配由 RTL 流水线完成</a:t>
            </a:r>
            <a:endParaRPr lang="en-US" sz="13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128 × 128 局部地图随雷达 10 fps 帧率实时更新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09630" y="4114800"/>
            <a:ext cx="6603980" cy="12710"/>
          </a:xfrm>
          <a:prstGeom prst="rect">
            <a:avLst/>
          </a:prstGeom>
          <a:solidFill>
            <a:srgbClr val="253945"/>
          </a:solidFill>
          <a:ln/>
        </p:spPr>
      </p:sp>
      <p:sp>
        <p:nvSpPr>
          <p:cNvPr id="18" name="Text 13"/>
          <p:cNvSpPr/>
          <p:nvPr/>
        </p:nvSpPr>
        <p:spPr>
          <a:xfrm>
            <a:off x="609630" y="4229100"/>
            <a:ext cx="446044" cy="416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dirty="0">
                <a:solidFill>
                  <a:srgbClr val="7FE7E1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4"/>
          <p:cNvSpPr/>
          <p:nvPr/>
        </p:nvSpPr>
        <p:spPr>
          <a:xfrm>
            <a:off x="1270010" y="4241810"/>
            <a:ext cx="1358890" cy="305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定点策略部署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1270010" y="4559290"/>
            <a:ext cx="6478524" cy="48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4500 策略的 40,704 个权重以 Q12 定点推理</a:t>
            </a:r>
            <a:endParaRPr lang="en-US" sz="13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125 Hz 输出四路舵机与两路车轮动作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09630" y="5168920"/>
            <a:ext cx="6603980" cy="12710"/>
          </a:xfrm>
          <a:prstGeom prst="rect">
            <a:avLst/>
          </a:prstGeom>
          <a:solidFill>
            <a:srgbClr val="253945"/>
          </a:solidFill>
          <a:ln/>
        </p:spPr>
      </p:sp>
      <p:sp>
        <p:nvSpPr>
          <p:cNvPr id="22" name="Text 17"/>
          <p:cNvSpPr/>
          <p:nvPr/>
        </p:nvSpPr>
        <p:spPr>
          <a:xfrm>
            <a:off x="609630" y="5283220"/>
            <a:ext cx="462046" cy="416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dirty="0">
                <a:solidFill>
                  <a:srgbClr val="7FE7E1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04</a:t>
            </a:r>
            <a:endParaRPr lang="en-US" sz="2800" dirty="0"/>
          </a:p>
        </p:txBody>
      </p:sp>
      <p:sp>
        <p:nvSpPr>
          <p:cNvPr id="23" name="Text 18"/>
          <p:cNvSpPr/>
          <p:nvPr/>
        </p:nvSpPr>
        <p:spPr>
          <a:xfrm>
            <a:off x="1270010" y="5295930"/>
            <a:ext cx="1574780" cy="305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离线多模态任务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1270010" y="5613410"/>
            <a:ext cx="6478524" cy="48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RK3588 本地运行 YOLO26n、Qwen3-1.7B 与 SenseVoice</a:t>
            </a:r>
            <a:endParaRPr lang="en-US" sz="13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一句话解析为结构化任务，由 FPGA 自主执行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609630" y="6223041"/>
            <a:ext cx="6603980" cy="12710"/>
          </a:xfrm>
          <a:prstGeom prst="rect">
            <a:avLst/>
          </a:prstGeom>
          <a:solidFill>
            <a:srgbClr val="253945"/>
          </a:solidFill>
          <a:ln/>
        </p:spPr>
      </p:sp>
      <p:pic>
        <p:nvPicPr>
          <p:cNvPr id="26" name="Image 3" descr="D:\Desktop\SOC FPGA\Yuntuo\presentation\assets\robot-fro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3710" y="1879641"/>
            <a:ext cx="3174980" cy="289563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487382" y="5156210"/>
            <a:ext cx="4227546" cy="48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40"/>
              </a:lnSpc>
              <a:buNone/>
            </a:pPr>
            <a:r>
              <a:rPr lang="en-US" sz="2800" b="1" dirty="0">
                <a:solidFill>
                  <a:srgbClr val="ECF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让智能落到</a:t>
            </a:r>
            <a:r>
              <a:rPr lang="en-US" sz="2800" b="1" dirty="0">
                <a:solidFill>
                  <a:srgbClr val="7FE7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每一步</a:t>
            </a:r>
            <a:r>
              <a:rPr lang="en-US" sz="2800" b="1" dirty="0">
                <a:solidFill>
                  <a:srgbClr val="F5AB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</a:t>
            </a:r>
            <a:endParaRPr lang="en-US" sz="2800" dirty="0"/>
          </a:p>
        </p:txBody>
      </p:sp>
      <p:sp>
        <p:nvSpPr>
          <p:cNvPr id="28" name="Text 22"/>
          <p:cNvSpPr/>
          <p:nvPr/>
        </p:nvSpPr>
        <p:spPr>
          <a:xfrm>
            <a:off x="7472202" y="5740420"/>
            <a:ext cx="4258086" cy="23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FPGA 实时感知与运动控制 · RK3588 边缘智能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609630" y="6438930"/>
            <a:ext cx="2091964" cy="2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云拓 YunTuo · 技术方案介绍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11039643" y="6438930"/>
            <a:ext cx="542696" cy="2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91A7B3"/>
                </a:solidFill>
                <a:latin typeface="Bahnschrift" pitchFamily="34" charset="0"/>
                <a:ea typeface="Microsoft YaHei" pitchFamily="34" charset="-122"/>
                <a:cs typeface="Bahnschrift" pitchFamily="34" charset="-120"/>
              </a:rPr>
              <a:t>08 / 08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云拓 YunTuo · 技术方案介绍</dc:title>
  <dc:subject>PptxGenJS Presentation</dc:subject>
  <dc:creator>云拓 YunTuo</dc:creator>
  <cp:lastModifiedBy>云拓 YunTuo</cp:lastModifiedBy>
  <cp:revision>1</cp:revision>
  <dcterms:created xsi:type="dcterms:W3CDTF">2026-10-29T08:54:47Z</dcterms:created>
  <dcterms:modified xsi:type="dcterms:W3CDTF">2026-10-29T08:54:47Z</dcterms:modified>
</cp:coreProperties>
</file>